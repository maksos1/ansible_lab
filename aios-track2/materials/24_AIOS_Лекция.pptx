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79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1066800"/>
            <a:ext cx="16840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3" name="Text 1"/>
          <p:cNvSpPr/>
          <p:nvPr/>
        </p:nvSpPr>
        <p:spPr>
          <a:xfrm>
            <a:off x="723900" y="457200"/>
            <a:ext cx="10498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677"/>
              </a:lnSpc>
              <a:buNone/>
            </a:pPr>
            <a:r>
              <a:rPr lang="en-US" sz="1500" b="1" kern="0" spc="15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BLUE SKY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23900" y="657225"/>
            <a:ext cx="10498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677"/>
              </a:lnSpc>
              <a:buNone/>
            </a:pPr>
            <a:r>
              <a:rPr lang="en-US" sz="1500" b="1" kern="0" spc="15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30993" y="516255"/>
            <a:ext cx="116490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 конкурсе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81701" y="516255"/>
            <a:ext cx="842367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Хакатон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09868" y="516255"/>
            <a:ext cx="87808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Новости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73754" y="516255"/>
            <a:ext cx="53971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2026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23900" y="1624965"/>
            <a:ext cx="323850" cy="19050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1493520"/>
            <a:ext cx="419846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ХАКАТОН · 1 — 10 АВГУСТА 2026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3900" y="1985010"/>
            <a:ext cx="10205085" cy="118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198"/>
              </a:lnSpc>
              <a:buNone/>
            </a:pPr>
            <a:r>
              <a:rPr lang="en-US" sz="8700" b="1" kern="0" spc="-174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Хакатон</a:t>
            </a:r>
            <a:endParaRPr lang="en-US" sz="8700" dirty="0"/>
          </a:p>
        </p:txBody>
      </p:sp>
      <p:sp>
        <p:nvSpPr>
          <p:cNvPr id="12" name="Text 10"/>
          <p:cNvSpPr/>
          <p:nvPr/>
        </p:nvSpPr>
        <p:spPr>
          <a:xfrm>
            <a:off x="723900" y="3134082"/>
            <a:ext cx="10205085" cy="1187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198"/>
              </a:lnSpc>
              <a:buNone/>
            </a:pPr>
            <a:r>
              <a:rPr lang="en-US" sz="8700" b="1" kern="0" spc="-174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AIOS</a:t>
            </a:r>
            <a:endParaRPr lang="en-US" sz="8700" dirty="0"/>
          </a:p>
        </p:txBody>
      </p:sp>
      <p:sp>
        <p:nvSpPr>
          <p:cNvPr id="13" name="Text 11"/>
          <p:cNvSpPr/>
          <p:nvPr/>
        </p:nvSpPr>
        <p:spPr>
          <a:xfrm>
            <a:off x="723900" y="4530805"/>
            <a:ext cx="863346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ИИ-центричная Операционная Система управления разработкой месторождения</a:t>
            </a:r>
            <a:endParaRPr lang="en-US" sz="2325" dirty="0"/>
          </a:p>
        </p:txBody>
      </p:sp>
      <p:sp>
        <p:nvSpPr>
          <p:cNvPr id="14" name="Shape 12"/>
          <p:cNvSpPr/>
          <p:nvPr/>
        </p:nvSpPr>
        <p:spPr>
          <a:xfrm>
            <a:off x="10610850" y="1493520"/>
            <a:ext cx="6953250" cy="466725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66120" y="2095500"/>
            <a:ext cx="644271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6" name="Text 14"/>
          <p:cNvSpPr/>
          <p:nvPr/>
        </p:nvSpPr>
        <p:spPr>
          <a:xfrm>
            <a:off x="10866120" y="1710690"/>
            <a:ext cx="185569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98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AIOS.NETWORK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298466" y="1710690"/>
            <a:ext cx="108656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98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NODES: 7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3435549" y="2179320"/>
            <a:ext cx="1303853" cy="441960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19" name="Text 17"/>
          <p:cNvSpPr/>
          <p:nvPr/>
        </p:nvSpPr>
        <p:spPr>
          <a:xfrm>
            <a:off x="13759399" y="2274570"/>
            <a:ext cx="73235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planner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4087475" y="2636520"/>
            <a:ext cx="9525" cy="323850"/>
          </a:xfrm>
          <a:prstGeom prst="rect">
            <a:avLst/>
          </a:prstGeom>
          <a:solidFill>
            <a:srgbClr val="C8C8D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90070" y="2960370"/>
            <a:ext cx="4194810" cy="9525"/>
          </a:xfrm>
          <a:prstGeom prst="rect">
            <a:avLst/>
          </a:prstGeom>
          <a:solidFill>
            <a:srgbClr val="C8C8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990070" y="2960370"/>
            <a:ext cx="9525" cy="323850"/>
          </a:xfrm>
          <a:prstGeom prst="rect">
            <a:avLst/>
          </a:prstGeom>
          <a:solidFill>
            <a:srgbClr val="C8C8D0"/>
          </a:solidFill>
          <a:ln/>
        </p:spPr>
      </p:sp>
      <p:sp>
        <p:nvSpPr>
          <p:cNvPr id="23" name="Shape 21"/>
          <p:cNvSpPr/>
          <p:nvPr/>
        </p:nvSpPr>
        <p:spPr>
          <a:xfrm>
            <a:off x="14087475" y="2960370"/>
            <a:ext cx="9525" cy="323850"/>
          </a:xfrm>
          <a:prstGeom prst="rect">
            <a:avLst/>
          </a:prstGeom>
          <a:solidFill>
            <a:srgbClr val="C8C8D0"/>
          </a:solidFill>
          <a:ln/>
        </p:spPr>
      </p:sp>
      <p:sp>
        <p:nvSpPr>
          <p:cNvPr id="24" name="Shape 22"/>
          <p:cNvSpPr/>
          <p:nvPr/>
        </p:nvSpPr>
        <p:spPr>
          <a:xfrm>
            <a:off x="16175356" y="2960370"/>
            <a:ext cx="9525" cy="323850"/>
          </a:xfrm>
          <a:prstGeom prst="rect">
            <a:avLst/>
          </a:prstGeom>
          <a:solidFill>
            <a:srgbClr val="C8C8D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66170" y="3284220"/>
            <a:ext cx="1100376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8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521440" y="3387090"/>
            <a:ext cx="66603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444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exec_1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537288" y="3284220"/>
            <a:ext cx="1100376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8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92558" y="3387090"/>
            <a:ext cx="66603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444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exec_2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808405" y="3284220"/>
            <a:ext cx="1100376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8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63675" y="3387090"/>
            <a:ext cx="66603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444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exec_3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1990070" y="3741420"/>
            <a:ext cx="9525" cy="666750"/>
          </a:xfrm>
          <a:prstGeom prst="rect">
            <a:avLst/>
          </a:prstGeom>
          <a:solidFill>
            <a:srgbClr val="C8C8D0"/>
          </a:solidFill>
          <a:ln/>
        </p:spPr>
      </p:sp>
      <p:sp>
        <p:nvSpPr>
          <p:cNvPr id="32" name="Shape 30"/>
          <p:cNvSpPr/>
          <p:nvPr/>
        </p:nvSpPr>
        <p:spPr>
          <a:xfrm>
            <a:off x="14087475" y="3741420"/>
            <a:ext cx="9525" cy="666750"/>
          </a:xfrm>
          <a:prstGeom prst="rect">
            <a:avLst/>
          </a:prstGeom>
          <a:solidFill>
            <a:srgbClr val="C8C8D0"/>
          </a:solidFill>
          <a:ln/>
        </p:spPr>
      </p:sp>
      <p:sp>
        <p:nvSpPr>
          <p:cNvPr id="33" name="Shape 31"/>
          <p:cNvSpPr/>
          <p:nvPr/>
        </p:nvSpPr>
        <p:spPr>
          <a:xfrm>
            <a:off x="16175356" y="3741420"/>
            <a:ext cx="9525" cy="666750"/>
          </a:xfrm>
          <a:prstGeom prst="rect">
            <a:avLst/>
          </a:prstGeom>
          <a:solidFill>
            <a:srgbClr val="C8C8D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361420" y="4408170"/>
            <a:ext cx="83796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8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616690" y="4511040"/>
            <a:ext cx="40362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444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drill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3672662" y="4408170"/>
            <a:ext cx="8433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8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966032" y="4511040"/>
            <a:ext cx="33278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444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9141" y="4408170"/>
            <a:ext cx="824389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8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244411" y="4511040"/>
            <a:ext cx="390049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444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npv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0866120" y="5341620"/>
            <a:ext cx="139678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120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2591216" y="5341620"/>
            <a:ext cx="256240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120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СИМУЛЯТОРЫ СКВАЖИН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5375970" y="5341620"/>
            <a:ext cx="2126147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120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ОПТИМИЗАЦИЯ NPV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23900" y="6484620"/>
            <a:ext cx="16840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44" name="Text 42"/>
          <p:cNvSpPr/>
          <p:nvPr/>
        </p:nvSpPr>
        <p:spPr>
          <a:xfrm>
            <a:off x="723900" y="6777990"/>
            <a:ext cx="428529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1683"/>
              </a:lnSpc>
              <a:buNone/>
            </a:pPr>
            <a:r>
              <a:rPr lang="en-US" sz="4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млн ₽</a:t>
            </a:r>
            <a:endParaRPr lang="en-US" sz="4950" dirty="0"/>
          </a:p>
        </p:txBody>
      </p:sp>
      <p:sp>
        <p:nvSpPr>
          <p:cNvPr id="45" name="Text 43"/>
          <p:cNvSpPr/>
          <p:nvPr/>
        </p:nvSpPr>
        <p:spPr>
          <a:xfrm>
            <a:off x="723900" y="7539990"/>
            <a:ext cx="42852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Призовой фонд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038725" y="6777990"/>
            <a:ext cx="428529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1818"/>
              </a:lnSpc>
              <a:buNone/>
            </a:pPr>
            <a:r>
              <a:rPr lang="en-US" sz="54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5400" dirty="0"/>
          </a:p>
        </p:txBody>
      </p:sp>
      <p:sp>
        <p:nvSpPr>
          <p:cNvPr id="47" name="Text 45"/>
          <p:cNvSpPr/>
          <p:nvPr/>
        </p:nvSpPr>
        <p:spPr>
          <a:xfrm>
            <a:off x="5038725" y="7597140"/>
            <a:ext cx="42852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Недели разработки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353550" y="6777990"/>
            <a:ext cx="428529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1818"/>
              </a:lnSpc>
              <a:buNone/>
            </a:pPr>
            <a:r>
              <a:rPr lang="en-US" sz="54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3–5</a:t>
            </a:r>
            <a:endParaRPr lang="en-US" sz="5400" dirty="0"/>
          </a:p>
        </p:txBody>
      </p:sp>
      <p:sp>
        <p:nvSpPr>
          <p:cNvPr id="49" name="Text 47"/>
          <p:cNvSpPr/>
          <p:nvPr/>
        </p:nvSpPr>
        <p:spPr>
          <a:xfrm>
            <a:off x="9353550" y="7597140"/>
            <a:ext cx="42852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Человек в команде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3668375" y="6777990"/>
            <a:ext cx="428529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1818"/>
              </a:lnSpc>
              <a:buNone/>
            </a:pPr>
            <a:r>
              <a:rPr lang="en-US" sz="54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5400" dirty="0"/>
          </a:p>
        </p:txBody>
      </p:sp>
      <p:sp>
        <p:nvSpPr>
          <p:cNvPr id="51" name="Text 49"/>
          <p:cNvSpPr/>
          <p:nvPr/>
        </p:nvSpPr>
        <p:spPr>
          <a:xfrm>
            <a:off x="13668375" y="7597140"/>
            <a:ext cx="428529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Инженерных трека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723900" y="8126730"/>
            <a:ext cx="16840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53" name="Text 51"/>
          <p:cNvSpPr/>
          <p:nvPr/>
        </p:nvSpPr>
        <p:spPr>
          <a:xfrm>
            <a:off x="723900" y="8343900"/>
            <a:ext cx="194488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1.07 — 31.07.2026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3406378" y="8343900"/>
            <a:ext cx="18528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КОМАНДЫ: 3–5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005156" y="8343900"/>
            <a:ext cx="239594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ПАРТНЁР: ТАТНЕФТЬ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723900" y="8625840"/>
            <a:ext cx="16840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" y="8843010"/>
            <a:ext cx="1368742" cy="403860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58" name="Text 56"/>
          <p:cNvSpPr/>
          <p:nvPr/>
        </p:nvSpPr>
        <p:spPr>
          <a:xfrm>
            <a:off x="933450" y="8919210"/>
            <a:ext cx="102584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ТРЕК · 01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2340292" y="8903970"/>
            <a:ext cx="1597085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Мультиагентная система оптимального управления на основе гидродинамической модели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7106900" y="9035415"/>
            <a:ext cx="457200" cy="19050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" y="9399270"/>
            <a:ext cx="16840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2" name="Shape 60"/>
          <p:cNvSpPr/>
          <p:nvPr/>
        </p:nvSpPr>
        <p:spPr>
          <a:xfrm>
            <a:off x="723900" y="9559290"/>
            <a:ext cx="1368742" cy="403860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63" name="Text 61"/>
          <p:cNvSpPr/>
          <p:nvPr/>
        </p:nvSpPr>
        <p:spPr>
          <a:xfrm>
            <a:off x="933450" y="9635490"/>
            <a:ext cx="102584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ТРЕК · 02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2340292" y="9620250"/>
            <a:ext cx="1597085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Масштабируемая мультиагентная система с использованием нейросетевых моделей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7106900" y="9751695"/>
            <a:ext cx="457200" cy="19050"/>
          </a:xfrm>
          <a:prstGeom prst="rect">
            <a:avLst/>
          </a:prstGeom>
          <a:solidFill>
            <a:srgbClr val="2D34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66775"/>
            <a:ext cx="323850" cy="19050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3" name="Text 1"/>
          <p:cNvSpPr/>
          <p:nvPr/>
        </p:nvSpPr>
        <p:spPr>
          <a:xfrm>
            <a:off x="1447800" y="723900"/>
            <a:ext cx="2034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238250"/>
            <a:ext cx="15304770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56"/>
              </a:lnSpc>
              <a:buNone/>
            </a:pPr>
            <a:r>
              <a:rPr lang="en-US" sz="4500" b="1" kern="0" spc="-4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База по методам: математика, LSTM и Transformer для временных рядов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400" y="2903220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230053"/>
            <a:ext cx="77724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17545"/>
            <a:ext cx="685800" cy="82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828800" y="3217545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3667125"/>
            <a:ext cx="754380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Learning как «чёрный ящик»: от формализации к обучению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78780"/>
            <a:ext cx="77724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66272"/>
            <a:ext cx="685800" cy="82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828800" y="4466272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4915853"/>
            <a:ext cx="754380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научить сеть работать с последовательностями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6727508"/>
            <a:ext cx="77724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715000"/>
            <a:ext cx="685800" cy="82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828800" y="5715000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Интерпретируемость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6164580"/>
            <a:ext cx="754380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можно (и что нельзя) понять из внимания модели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14400" y="6963728"/>
            <a:ext cx="685800" cy="82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828800" y="6963728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Суррогатные модели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7413307"/>
            <a:ext cx="754380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Быстрая аппроксимация дорогого симулятора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601200" y="4230053"/>
            <a:ext cx="77724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3217545"/>
            <a:ext cx="685800" cy="82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515600" y="3217545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Reinforcement Learning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515600" y="3667125"/>
            <a:ext cx="754380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Управление как последовательное принятие решений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601200" y="5478780"/>
            <a:ext cx="77724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0" y="4466272"/>
            <a:ext cx="685800" cy="82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515600" y="4466272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Мультиагентные системы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515600" y="4915853"/>
            <a:ext cx="754380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«агент на каждую скважину» не масштабируется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601200" y="6727508"/>
            <a:ext cx="77724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5715000"/>
            <a:ext cx="685800" cy="82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0515600" y="5715000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Итоги лекции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515600" y="6164580"/>
            <a:ext cx="754380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Сквозные принципы для любого трека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601200" y="6963728"/>
            <a:ext cx="685800" cy="82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0515600" y="6963728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Список литературы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515600" y="7413307"/>
            <a:ext cx="754380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Источники по всем разделам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420624" y="95478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/ 59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1540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4716125" cy="1297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Зачем нужен Deep Learning: чёрный ящик вместо явных правил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703433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933117"/>
            <a:ext cx="95631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985379"/>
            <a:ext cx="80010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962150" y="3985379"/>
            <a:ext cx="8770811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Хотим автоматически строить алгоритмы математически — просто «руками» описать правило не всегда получается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6078974"/>
            <a:ext cx="95631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131237"/>
            <a:ext cx="80010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962150" y="5131237"/>
            <a:ext cx="8770811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Семантический разрыв: многие задачи трудно формализовать явной формулой (что такое «кошка на фото»?)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7224832"/>
            <a:ext cx="95631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6277094"/>
            <a:ext cx="80010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962150" y="6277094"/>
            <a:ext cx="8770811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Примеры: детектирование объектов, машинный перевод, генерация звуков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7422952"/>
            <a:ext cx="80010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962150" y="7422952"/>
            <a:ext cx="8770811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Learning (глубокое обучение) — способ построения таких «чёрных ящиков» по данным, а не по явным правилам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087100" y="2960608"/>
            <a:ext cx="6286500" cy="3112651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11750040" y="3120628"/>
            <a:ext cx="4960501" cy="279249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1087100" y="6282809"/>
            <a:ext cx="6286500" cy="3112651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504420" y="6442829"/>
            <a:ext cx="3451860" cy="27924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/ 59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1540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Формализация «чёрного ящика»: входы и выходы (1/3)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95442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77189"/>
            <a:ext cx="99060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209800" y="4177189"/>
            <a:ext cx="1668018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Чёрный ящик — функция f*: X → Y*, где X — входные данные, Y* — предсказанные выходные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606313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285899"/>
            <a:ext cx="99060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209800" y="5285899"/>
            <a:ext cx="1668018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Данные могут быть числами, векторами, матрицами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6394609"/>
            <a:ext cx="9906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2209800" y="6394609"/>
            <a:ext cx="15618714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Любая модальность сводится к этому виду: изображение = матрица W×H×3, аудиосигнал = вектор отсчётов, видео = тензор T×W×H×C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14400" y="9585960"/>
            <a:ext cx="1700891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Goodfellow I., Bengio Y., Courville A. Deep Learning. – Cambridge, MA: MIT Press, 2016.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834247" y="9585960"/>
            <a:ext cx="61555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/ 59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1540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Формализация «чёрного ящика»: как считается выход (2/3)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95442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77189"/>
            <a:ext cx="99060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209800" y="4177189"/>
            <a:ext cx="1668018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Фундаментальная идея методов DL — находить связи между элементами входных и выходных данных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606313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285899"/>
            <a:ext cx="99060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209800" y="5285899"/>
            <a:ext cx="1668018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Простейший пример: многомерная линейная регрессия f*(X) = β₁X + β₂, где D(f*) = ℝⁿ, E(f*) = ℝ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6394609"/>
            <a:ext cx="9906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2209800" y="6394609"/>
            <a:ext cx="15618714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Метод вычисляет выходное значение через различные связи между входом и элементами вектора параметров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/ 59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1540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4716125" cy="1297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Формализация «чёрного ящика»: признаки как элементы вектора (3/3)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703433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258276"/>
            <a:ext cx="95631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45293"/>
            <a:ext cx="800100" cy="82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962150" y="4245293"/>
            <a:ext cx="8770811" cy="82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Элементы векторов = признаки — базовая единица описания входной информации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14400" y="6507480"/>
            <a:ext cx="95631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494497"/>
            <a:ext cx="800100" cy="82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962150" y="5494497"/>
            <a:ext cx="8770811" cy="82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изображений — цветовые каналы, контуры/границы; для сигнала — сами отсчёты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14400" y="6743700"/>
            <a:ext cx="800100" cy="1214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962150" y="6743700"/>
            <a:ext cx="8770811" cy="1214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Признаки можно конструировать и добавлять к входным данным вручную (feature engineering, «конструирование признаков») или доверить это сети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1087100" y="2960608"/>
            <a:ext cx="6286500" cy="3112651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12196763" y="3120628"/>
            <a:ext cx="4067175" cy="279249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1087100" y="6282809"/>
            <a:ext cx="6286500" cy="3112651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12108776" y="6442829"/>
            <a:ext cx="4243149" cy="27924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/ 59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1540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подбираются параметры модели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95442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77189"/>
            <a:ext cx="99060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209800" y="4177189"/>
            <a:ext cx="1668018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Возвращаемся к примеру: f*(X) = β₁X + β₂, где β₁, β₂ — параметры модели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651652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285899"/>
            <a:ext cx="9906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209800" y="5285899"/>
            <a:ext cx="15618714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 — подбор параметров, минимизирующих функцию ошибки на данных: (β₁,β₂) = argmin L(f(β₁,β₂,X), y)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6847999"/>
            <a:ext cx="99060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2209800" y="6847999"/>
            <a:ext cx="1668018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Вопрос: как находить минимум такой функции? → градиентный спуск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/ 59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1540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Градиентный спуск шаг за шагом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002054"/>
            <a:ext cx="99441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15928"/>
            <a:ext cx="800100" cy="1214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962150" y="3615928"/>
            <a:ext cx="9163240" cy="1214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Шаги спуска: 1) начальные параметры → 2) градиент ошибки на k-м шаге → 3) шаг спуска → 4) обновление параметров → 5) проверка условия остановки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14400" y="5820966"/>
            <a:ext cx="99441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219224"/>
            <a:ext cx="800100" cy="43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962150" y="5219224"/>
            <a:ext cx="9785985" cy="430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(β₁,β₂)ₖ = (β₁,β₂)ₖ₋₁ − hₖ·(∂L/∂β₁, ∂L/∂β₂)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14400" y="6038136"/>
            <a:ext cx="800100" cy="82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962150" y="6038136"/>
            <a:ext cx="9163240" cy="82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= метод + подобранные параметры (у современных моделей — до сотен миллиардов параметров)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1468100" y="2330887"/>
            <a:ext cx="5905500" cy="596729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47170" y="3065621"/>
            <a:ext cx="5547360" cy="449782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14400" y="8545830"/>
            <a:ext cx="16459200" cy="868680"/>
          </a:xfrm>
          <a:prstGeom prst="rect">
            <a:avLst/>
          </a:prstGeom>
          <a:solidFill>
            <a:srgbClr val="E8E9FF"/>
          </a:solidFill>
          <a:ln/>
        </p:spPr>
      </p:sp>
      <p:sp>
        <p:nvSpPr>
          <p:cNvPr id="17" name="Text 14"/>
          <p:cNvSpPr/>
          <p:nvPr/>
        </p:nvSpPr>
        <p:spPr>
          <a:xfrm>
            <a:off x="1238250" y="8846820"/>
            <a:ext cx="3047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 К АУДИТОРИИ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351377" y="8793480"/>
            <a:ext cx="1396821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научились подбирать β₁ и β₂ градиентным спуском. В чём проблема с такой моделью?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/ 59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1540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Нелинейность: зачем нужны функции активации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356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74808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5637"/>
            <a:ext cx="8001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962150" y="2235637"/>
            <a:ext cx="169525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 на вопрос: модель линейна — β₁X+β₂ не может выразить нелинейные зависимости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14400" y="3420547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08102"/>
            <a:ext cx="8001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962150" y="2908102"/>
            <a:ext cx="169525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Функция активации добавляется после линейной комбинации входа и создаёт нелинейность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14400" y="481310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80567"/>
            <a:ext cx="800100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962150" y="3580567"/>
            <a:ext cx="15873794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Sigmoid (сигмоида, логистическая функция): σ(x) = 1/(1+e⁻ˣ); ReLU (Rectified Linear Unit): max(0,x); tanh (гиперболический тангенс); Leaky ReLU — модификация ReLU с небольшим наклоном при x&lt;0; отдельно — Softmax (переводит вектор чисел в вероятности, сумма = 1) для последнего слоя классификатора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14400" y="4973121"/>
            <a:ext cx="8001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962150" y="4973121"/>
            <a:ext cx="169525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Линейный слой + активация = полноценная однослойная модель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14400" y="5695117"/>
            <a:ext cx="5321261" cy="373844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3350" y="5855137"/>
            <a:ext cx="4983361" cy="341828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83311" y="5695117"/>
            <a:ext cx="5321379" cy="373844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643331" y="6799302"/>
            <a:ext cx="5001339" cy="1529953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2052340" y="5695117"/>
            <a:ext cx="5321261" cy="373844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12212360" y="6317814"/>
            <a:ext cx="5001220" cy="249293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/ 59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1540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одного слоя к многослойной сети (MLP)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618196"/>
            <a:ext cx="99441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70459"/>
            <a:ext cx="80010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962150" y="3670459"/>
            <a:ext cx="916324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MLP (Multilayer Perceptron, многослойный перцептрон) — стек линейных слоёв и слоёв активации: f(X) = f₁∘f₂∘…∘fₙ(X)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5764054"/>
            <a:ext cx="99441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16316"/>
            <a:ext cx="80010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962150" y="4816316"/>
            <a:ext cx="916324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Минус: не учитывает порядок/позицию элементов входа → неточные признаки для сигналов и последовательностей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6909911"/>
            <a:ext cx="99441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962174"/>
            <a:ext cx="80010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962150" y="5962174"/>
            <a:ext cx="916324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обучается: тот же градиентный спуск, но градиент считается сразу по всем слоям — backpropagation (обратное распространение ошибки)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7108031"/>
            <a:ext cx="80010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962150" y="7108031"/>
            <a:ext cx="916324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практике вручную это не считают — за это отвечает фреймворк (autograd в PyTorch / TensorFlow); подробнее — см. список литературы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468100" y="2330887"/>
            <a:ext cx="5905500" cy="706457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647170" y="4559498"/>
            <a:ext cx="5547360" cy="260723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9585960"/>
            <a:ext cx="1700891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Rumelhart D.E., Hinton G.E., Williams R.J. Learning representations by back-propagating errors // Nature. – 1986. – Vol. 323. – P. 533–536.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6834247" y="9585960"/>
            <a:ext cx="61555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/ 59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1540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Контроль качества: Train / Validation / Test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040386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92686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86150" y="3392686"/>
            <a:ext cx="152761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функции ошибки и спуск (модель напрямую подгоняется под эти данные)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4943356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95656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86150" y="4295656"/>
            <a:ext cx="152761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 того же распределения, но не участвует в спуске — используется для настройки и выбора модели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846326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198626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86150" y="5198626"/>
            <a:ext cx="152761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Отдельная выборка, не используется при обучении вовсе — финальная непредвзятая оценка качества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6101596"/>
            <a:ext cx="2409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Диагностика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86150" y="6101596"/>
            <a:ext cx="152761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Соотношение графиков ошибки на train/validation → диагностика недо-/переобучения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7811095"/>
            <a:ext cx="16459200" cy="1603415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5870" y="8123515"/>
            <a:ext cx="216334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СКВОЗНАЯ ТЕМА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17344" y="8085415"/>
            <a:ext cx="13930530" cy="109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75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утечки данных между выборками. Данные нужно перемешать перед разбиением на train/validation/test. Аугментация должна выполняться ПОСЛЕ разбиения — иначе изменённые копии одного и того же объекта могут попасть в разные выборки, и оценка качества станет завышенной.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/ 59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1540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4716125" cy="1297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Диагностика обучения: недо- и переобучение по кривым ошибки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684383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41558"/>
            <a:ext cx="579746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Недообучение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467338"/>
            <a:ext cx="5270421" cy="469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5370" y="4034433"/>
            <a:ext cx="4988481" cy="35631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8336280"/>
            <a:ext cx="5428533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Признаки: обе кривые держатся на высоком значении ошибки и почти не улучшаются. Модель слишком простая или недообучена.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508671" y="2941558"/>
            <a:ext cx="579759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Переобучение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508671" y="3467338"/>
            <a:ext cx="5270540" cy="469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649641" y="4034433"/>
            <a:ext cx="4988600" cy="35631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08671" y="8336280"/>
            <a:ext cx="5428656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Признаки: train продолжает падать, а validation в какой-то момент начинает расти — модель запоминает train вместо обобщения.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12103060" y="2941558"/>
            <a:ext cx="579759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Хорошее обучение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12103060" y="3467338"/>
            <a:ext cx="5270540" cy="469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12244031" y="4034433"/>
            <a:ext cx="4988600" cy="35631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103060" y="8336280"/>
            <a:ext cx="5428656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Признаки: обе кривые падают и сходятся «на плато» с небольшим устойчивым разрывом между ними.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Графики иллюстративные, подготовлены для лекции — показывают типичную форму кривых, а не данные конкретной модели.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 / 59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1540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Какие типы задач решает Deep Learning?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02337"/>
            <a:ext cx="8012430" cy="6512123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997637"/>
            <a:ext cx="780783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AAAA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489127"/>
            <a:ext cx="780783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361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 с учителем (supervised learning)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71600" y="4174927"/>
            <a:ext cx="7310971" cy="849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61"/>
              </a:lnSpc>
              <a:buNone/>
            </a:pPr>
            <a:r>
              <a:rPr lang="en-US" sz="2250" dirty="0">
                <a:solidFill>
                  <a:srgbClr val="D1D1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входное X есть ожидаемый отклик y: классификация, регрессия, ранжирование, сегментация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45930" y="2502337"/>
            <a:ext cx="8027670" cy="651212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10750" y="3005257"/>
            <a:ext cx="780783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10750" y="3496747"/>
            <a:ext cx="731097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361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 без учителя (unsupervised learning)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810750" y="4639747"/>
            <a:ext cx="7310971" cy="125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61"/>
              </a:lnSpc>
              <a:buNone/>
            </a:pPr>
            <a:r>
              <a:rPr lang="en-US" sz="22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отклика y нет: устранение шумов, обучение представлениям (представления затем можно использовать для других задач)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 / 59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527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такое RNN и зачем он нужен? (1/2)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95442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23799"/>
            <a:ext cx="9906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209800" y="3723799"/>
            <a:ext cx="15618714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(Recurrent Neural Network, рекуррентная нейронная сеть) — сеть, устроенная для последовательной обработки информации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651652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285899"/>
            <a:ext cx="9906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209800" y="5285899"/>
            <a:ext cx="15618714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Есть последовательность информации (слова в тексте, аудиосигнал, данные с датчиков гироскопа…) — как её обрабатывать?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6847999"/>
            <a:ext cx="9906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2209800" y="6847999"/>
            <a:ext cx="15618714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Последовательно! Применяя одну и ту же функцию к каждому элементу, передавая между шагами скрытое состояние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 / 59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527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такое RNN и зачем он нужен? (2/2)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99192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49937"/>
            <a:ext cx="9906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2209800" y="2349937"/>
            <a:ext cx="1668018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чём проблема? Элементы последовательности могут быть по смыслу связаны не подряд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14400" y="3870127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28142"/>
            <a:ext cx="9906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2209800" y="3228142"/>
            <a:ext cx="1668018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это решить?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914400" y="4106347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2209800" y="4106347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Нужен механизм «памяти» — что-то, что переносит существенную информацию через много шагов, а не только с предыдущего</a:t>
            </a:r>
            <a:endParaRPr lang="en-US" sz="2325" dirty="0"/>
          </a:p>
        </p:txBody>
      </p:sp>
      <p:sp>
        <p:nvSpPr>
          <p:cNvPr id="14" name="Shape 12"/>
          <p:cNvSpPr/>
          <p:nvPr/>
        </p:nvSpPr>
        <p:spPr>
          <a:xfrm>
            <a:off x="914400" y="5409367"/>
            <a:ext cx="16459200" cy="400514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2307788" y="5664637"/>
            <a:ext cx="13672424" cy="34944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 / 59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527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Long Short-Term Memory (LSTM)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794171"/>
            <a:ext cx="60960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52524"/>
            <a:ext cx="6705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48764"/>
            <a:ext cx="6278880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(«долгая и краткосрочная память») — ответ на проблему предыдущего слайда: механизм памяти с управляемым забыванием/обновлением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6752987"/>
            <a:ext cx="60960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011341"/>
            <a:ext cx="6705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407581"/>
            <a:ext cx="6278880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гейта: input (что запомнить), forget (что забыть), output (что отдать наружу) + отдельная ячейка состояния Cₜ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6970157"/>
            <a:ext cx="6705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7366397"/>
            <a:ext cx="6278880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Гейты — обычные линейные слои с sigmoid/tanh активацией, обучаются градиентным спуском вместе со всей сетью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543800" y="2159437"/>
            <a:ext cx="9829800" cy="723602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05988" y="4020026"/>
            <a:ext cx="5305425" cy="35147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Hochreiter S., Schmidhuber J. Long Short-Term Memory // Neural Computation. – 1997. – Vol. 9, No. 8. – P. 1735–1780.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 / 59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527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Gated Recurrent Units (GRU)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604861"/>
            <a:ext cx="60960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41834"/>
            <a:ext cx="6705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38074"/>
            <a:ext cx="627888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Более лёгкая альтернатива LSTM — два гейта вместо трёх, нет отдельной ячейки памяти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6942296"/>
            <a:ext cx="60960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22031"/>
            <a:ext cx="6705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218272"/>
            <a:ext cx="6278880" cy="1552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Гейты: reset (сброс — сколько прошлого состояния забыть при формировании кандидата) и update (обновление — баланс между старым и новым состоянием)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7159466"/>
            <a:ext cx="6705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7555706"/>
            <a:ext cx="6278880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практике часто не хуже LSTM по качеству, но дешевле по параметрам и вычислениям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543800" y="2159437"/>
            <a:ext cx="9829800" cy="723602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01263" y="4077176"/>
            <a:ext cx="4714875" cy="34004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Cho K. et al. Learning Phrase Representations using RNN Encoder–Decoder for Statistical Machine Translation // Proc. EMNLP. – 2014.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 / 59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527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Пределы RNN/LSTM: зачем нужен новый механизм (1/3)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40437"/>
            <a:ext cx="5232321" cy="643592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3020" y="2967157"/>
            <a:ext cx="490058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03020" y="3458647"/>
            <a:ext cx="4900589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Долгосрочная зависимость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303020" y="4060627"/>
            <a:ext cx="4588733" cy="1552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даже LSTM/GRU могут испытывать трудности с запоминанием информации в очень длинных последовательностях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27721" y="2540437"/>
            <a:ext cx="5232440" cy="643592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6341" y="2967157"/>
            <a:ext cx="49007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16341" y="3458647"/>
            <a:ext cx="490072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Распараллеливание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916341" y="4060627"/>
            <a:ext cx="4588856" cy="1931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последовательная обработка данных делает RNN-семейство трудно распараллеливаемым, что ограничивает использование GPU для ускорения обучения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41160" y="2540437"/>
            <a:ext cx="5232440" cy="643592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29781" y="2967157"/>
            <a:ext cx="49007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529781" y="3458647"/>
            <a:ext cx="490072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27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Время обучения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529781" y="4060627"/>
            <a:ext cx="4588856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из-за последовательной обработки требуется значительное время, особенно на больших наборах данных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 / 59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527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Внимание: идея Query, Key, Value (2/3)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328636"/>
            <a:ext cx="102108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37096"/>
            <a:ext cx="8001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943100" y="3437096"/>
            <a:ext cx="945756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Механизм внимания (attention) — вместо жёсткой рекуррентности, прямой доступ к любому элементу последовательности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14400" y="5399246"/>
            <a:ext cx="102108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07706"/>
            <a:ext cx="8001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943100" y="4507706"/>
            <a:ext cx="945756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Query (запрос) — что ищем; Key (ключ) — с чем сравниваем; Value (значение) — что возвращаем, если совпадение хорошее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14400" y="6469856"/>
            <a:ext cx="102108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578316"/>
            <a:ext cx="8001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943100" y="5578316"/>
            <a:ext cx="945756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Отправляем запрос и получаем ответ в виде взвешенной суммы значений, где вес пропорционален тому, насколько запрос похож на каждый ключ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14400" y="7180421"/>
            <a:ext cx="102108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6648926"/>
            <a:ext cx="8001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943100" y="6648926"/>
            <a:ext cx="1010031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Attention(Q,K,V) = softmax(Q·Kᵗ/√d_k)·V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914400" y="7359491"/>
            <a:ext cx="8001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—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943100" y="7359491"/>
            <a:ext cx="945756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Используется и в Seq2seq (sequence-to-sequence, RNN + attention), и как основа Transformer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658600" y="2121337"/>
            <a:ext cx="5715000" cy="727412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75770" y="2932747"/>
            <a:ext cx="5280660" cy="565118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Bahdanau D., Cho K., Bengio Y. Neural Machine Translation by Jointly Learning to Align and Translate // arXiv preprint. – 2015. – arXiv:1409.0473.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 / 59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527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Внимание в действии: пример перевода (3/3)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92787"/>
            <a:ext cx="80010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943100" y="2292787"/>
            <a:ext cx="1589341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Attention: выходное значение — взвешенная сумма состояний энкодера с весами внимания; модель учится «обращать внимание» на самые релевантные токены источника на каждом шаге генерации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287197"/>
            <a:ext cx="10306050" cy="612731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92530" y="3485317"/>
            <a:ext cx="9749671" cy="57309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544300" y="3287197"/>
            <a:ext cx="5829300" cy="522434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5" r="-5"/>
          <a:stretch/>
        </p:blipFill>
        <p:spPr>
          <a:xfrm>
            <a:off x="11742420" y="5352098"/>
            <a:ext cx="5433060" cy="10944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44300" y="8721090"/>
            <a:ext cx="6004179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score(hₜ,sₖ): dot-product / bilinear / MLP — варианты вычисления «похожести» запроса и ключа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 / 59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527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Transformer: внимание — это всё, что вам нужно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328636"/>
            <a:ext cx="109728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37096"/>
            <a:ext cx="8001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943100" y="3437096"/>
            <a:ext cx="1024242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Название отсылает к статье «Attention Is All You Need» — вся архитектура строится вокруг внимания, без рекуррентности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14400" y="5039201"/>
            <a:ext cx="109728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07706"/>
            <a:ext cx="8001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943100" y="4507706"/>
            <a:ext cx="1093851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Encoder self-attention — токены смотрят друг на друга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14400" y="5749767"/>
            <a:ext cx="109728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218272"/>
            <a:ext cx="8001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943100" y="5218272"/>
            <a:ext cx="1093851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Decoder self-attention (masked) — токены смотрят только на предыдущие токены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14400" y="6820376"/>
            <a:ext cx="109728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928836"/>
            <a:ext cx="8001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943100" y="5928836"/>
            <a:ext cx="1024242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Decoder–encoder (cross) attention — запросы из состояний декодера, ключи/значения — из энкодера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914400" y="6999447"/>
            <a:ext cx="800100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—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943100" y="6999447"/>
            <a:ext cx="10242423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Feed-forward network + residual connections (остаточные связи — прибавление входа обратно к выходу слоя, чтобы не терять исходную информацию) — после внимания у токена есть «момент подумать»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2420600" y="2121337"/>
            <a:ext cx="4953000" cy="727412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12637770" y="4555808"/>
            <a:ext cx="4518660" cy="240518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Vaswani A. et al. Attention Is All You Need // Advances in NeurIPS. – 2017. – arXiv:1706.03762.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 / 59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527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Разбор архитектуры: Multi-Head Attention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581049"/>
            <a:ext cx="109728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24739"/>
            <a:ext cx="80010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943100" y="3624739"/>
            <a:ext cx="10242423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Multi-Head Attention: MH(Q,K,V) = Concat(head₁,…,head_h)·Wᴼ, где head_i = Attention(Q·Wᵢᴼ, K·Wᵢᴷ, V·Wᵢⱽ)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5754529"/>
            <a:ext cx="109728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798219"/>
            <a:ext cx="80010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943100" y="4798219"/>
            <a:ext cx="10242423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Несколько «голов» внимания параллельно смотрят на разные аспекты связей между токенами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6554629"/>
            <a:ext cx="109728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971699"/>
            <a:ext cx="800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943100" y="5971699"/>
            <a:ext cx="1093851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Position-Wise Feed-Forward Network: FFN(x) = max(0, x·W₁+b₁)·W₂+b₂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6771799"/>
            <a:ext cx="800100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943100" y="6771799"/>
            <a:ext cx="10242423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Positional Encoding (позиционное кодирование): PE(pos,2i) = sin(pos/10000^(2i/d_model)); PE(pos,2i+1) = cos(pos/10000^(2i/d_model)) — добавляет информацию о позиции, которую само внимание не учитывает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420600" y="2121337"/>
            <a:ext cx="4953000" cy="727412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37770" y="2832616"/>
            <a:ext cx="4518660" cy="585144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Vaswani A. et al. Attention Is All You Need // Advances in NeurIPS. – 2017. – arXiv:1706.03762.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 / 59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527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Разбор архитектуры: полная схема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92787"/>
            <a:ext cx="80010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943100" y="2292787"/>
            <a:ext cx="1589341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Multi-Head Attention собирается из Scaled Dot-Product Attention и линейных проекций Q/K/V — весь путь от эмбеддингов до вероятностей на выходе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268147"/>
            <a:ext cx="16459200" cy="612731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95875" y="4002881"/>
            <a:ext cx="8096250" cy="46577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Vaswani A. et al. Attention Is All You Need // Advances in NeurIPS. – 2017. – arXiv:1706.03762.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 / 59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527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Transformer к современным LLM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36768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74219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2209800" y="3274219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Self-attention, multi-head attention, positional encoding — фундамент архитектур современных LLM (Large Language Model, больших языковых моделей: GPT, LLaMA, Mistral, DeepSeek и др.)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14400" y="573547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642009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2209800" y="4642009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Внимание постоянно оптимизируется: FlashAttention (быстрее и экономнее по памяти), Multi-/Grouped-Query Attention (меньше KV-кэша), sparse/linear attention для длинных последовательностей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14400" y="710326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6009799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2209800" y="6009799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Mixture-of-Experts (MoE, «смесь экспертов») — вместо одного большого FFN на слое — набор «экспертов», из которых на каждый токен активируется лишь часть (Mixtral, DeepSeek-MoE и др.)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914400" y="7377589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2209800" y="7377589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Вывод: детали конкретных продуктовых архитектур эволюционируют, но база — self-attention + позиционная информация — остаётся прежней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Dao T. et al. FlashAttention // Advances in NeurIPS. – 2022. – arXiv:2205.14135; Jiang A.Q. et al. Mixtral of Experts. – 2024. – arXiv:2401.04088.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 / 59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87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ИНТЕРПРЕТИРУЕМОСТЬ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Интерпретируемость: зачем и что это даёт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18112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950494"/>
            <a:ext cx="9906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209800" y="3950494"/>
            <a:ext cx="15618714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из практических плюсов attention-механизма — веса внимания в принципе можно посмотреть и понять, на что модель «смотрит»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674322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512594"/>
            <a:ext cx="9906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209800" y="5512594"/>
            <a:ext cx="15618714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Зачем это нужно: отладка модели, доверие к предсказаниям, поиск скрытых ошибок и утечек данных, объяснение решений заказчику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7074694"/>
            <a:ext cx="99060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2209800" y="7074694"/>
            <a:ext cx="1668018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Дальше — конкретные примеры и методы, а также важные оговорки и подводные камни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 / 59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87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ИНТЕРПРЕТИРУЕМОСТЬ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Пример: внимание на дальних зависимостях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92715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0887"/>
            <a:ext cx="89535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2076450" y="2330887"/>
            <a:ext cx="16826865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Механизм внимания на дальних зависимостях в самовнимании энкодера, слой 5 из 6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14400" y="3144322"/>
            <a:ext cx="89535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2076450" y="3144322"/>
            <a:ext cx="1575606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Многие головы, обращающие внимание на отдалённую зависимость от глагола «making», завершают фразу «making … more difficult»; внимание уделяется только слову «making». Разными цветами обозначены разные головы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914400" y="4336852"/>
            <a:ext cx="16459200" cy="5058609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62575" y="5156359"/>
            <a:ext cx="7562850" cy="34194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Vaswani A. et al. Attention Is All You Need // Advances in NeurIPS. – 2017. – arXiv:1706.03762.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 / 59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87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ИНТЕРПРЕТИРУЕМОСТЬ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Разные головы — разные роли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754761"/>
            <a:ext cx="60960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45537"/>
            <a:ext cx="6705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41777"/>
            <a:ext cx="6278880" cy="82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 разной работы голов в одном и том же слое (слой 5 из 6)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14400" y="6400205"/>
            <a:ext cx="60960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990981"/>
            <a:ext cx="6705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387221"/>
            <a:ext cx="6278880" cy="822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Разные головы обучаются по-разному и отражают разные семантические связи между словами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14400" y="6636425"/>
            <a:ext cx="6705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7032665"/>
            <a:ext cx="6278880" cy="1214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Практический вывод: 'внимание' модели — это не одна карта, а целый набор специализированных карт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7543800" y="2159437"/>
            <a:ext cx="9829800" cy="723602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86925" y="2981801"/>
            <a:ext cx="5543550" cy="559117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Vaswani A. et al. Attention Is All You Need // Advances in NeurIPS. – 2017. – arXiv:1706.03762.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26 / 59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87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ИНТЕРПРЕТИРУЕМОСТЬ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 Rollout: агрегация внимания по слоям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96776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63804"/>
            <a:ext cx="99060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2209800" y="3763804"/>
            <a:ext cx="15618714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24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Проблема: внимание на одном слое — лишь часть картины; в глубокой сети информация проходит через много слоёв внимания подряд</a:t>
            </a:r>
            <a:endParaRPr lang="en-US" sz="2475" dirty="0"/>
          </a:p>
        </p:txBody>
      </p:sp>
      <p:sp>
        <p:nvSpPr>
          <p:cNvPr id="9" name="Shape 7"/>
          <p:cNvSpPr/>
          <p:nvPr/>
        </p:nvSpPr>
        <p:spPr>
          <a:xfrm>
            <a:off x="914400" y="650319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299234"/>
            <a:ext cx="99060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2209800" y="5299234"/>
            <a:ext cx="15618714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24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 Rollout — способ агрегировать веса внимания по всем слоям, получая итоговую «карту влияния» входных токенов на выход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914400" y="6834664"/>
            <a:ext cx="99060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2209800" y="6834664"/>
            <a:ext cx="15618714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24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Идея: последовательно перемножать матрицы внимания слоёв (с учётом residual-связей), накапливая сквозной вклад каждого входного токена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Abnar S., Zuidema W. Quantifying Attention Flow in Transformers // Proc. ACL. – 2020. – arXiv:2005.00928.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27 / 59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87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ИНТЕРПРЕТИРУЕМОСТЬ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 maps как инструмент интерпретации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78107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87604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2209800" y="3687604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 map (карта внимания) — матрица весов внимания между токенами/позициями; обычно визуализируется как тепловая карта на паре слой×голова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14400" y="573547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055394"/>
            <a:ext cx="9906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2209800" y="5055394"/>
            <a:ext cx="1668018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Полезно для отладки: где модель концентрируется, есть ли осмысленные паттерны (см. примеры выше)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14400" y="668988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6009799"/>
            <a:ext cx="9906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2209800" y="6009799"/>
            <a:ext cx="1668018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Важная оговорка: «внимание» ≠ «объяснение» — в литературе идёт прямая дискуссия на эту тему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914400" y="6964204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2209800" y="6964204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Сырые веса внимания не всегда причинно связаны с итоговым решением модели — относиться к ним как к эвристике, а не строгому доказательству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Jain S., Wallace B.C. Attention is not Explanation, 2019 (arXiv:1902.10186); Wiegreffe S., Pinter Y. Attention is not not Explanation, 2019 (arXiv:1908.04626).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28 / 59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87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ИНТЕРПРЕТИРУЕМОСТЬ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Цепочки рассуждений (Chain-of-Thought) у LLM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161824"/>
            <a:ext cx="16459200" cy="148971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3020" y="3493294"/>
            <a:ext cx="89535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2465070" y="3493294"/>
            <a:ext cx="14955508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Chain-of-Thought (CoT, «цепочка рассуждений») — модель проговаривает промежуточные шаги рассуждения перед финальным ответом, что даёт человеко-читаемое «объяснение» хода решения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14400" y="4899184"/>
            <a:ext cx="16459200" cy="1061085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5223034"/>
            <a:ext cx="89535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AAAA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2457450" y="5223034"/>
            <a:ext cx="1598866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Плюс: заметно повышает качество на сложных многошаговых задачах и позволяет проверить логику по шагам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14400" y="6207919"/>
            <a:ext cx="16459200" cy="1903095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3020" y="6539389"/>
            <a:ext cx="895350" cy="1278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2465070" y="6539389"/>
            <a:ext cx="14955508" cy="1278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Подводный камень: вербализованное рассуждение не гарантированно отражает то, что модель «на самом деле» вычислила внутри — рассуждение может быть красивым, но не достоверно отражающим (не «faithful») реальный внутренний процесс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914400" y="9304020"/>
            <a:ext cx="15807203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Wei J. et al. Chain-of-Thought Prompting Elicits Reasoning in LLMs // NeurIPS. – 2022. – arXiv:2201.11903; Turpin M. et al. Language Models Don't Always Say What They Think // NeurIPS. – 2023. – arXiv:2305.04388.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29 / 59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873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ИНТЕРПРЕТИРУЕМОСТЬ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 каждую архитектуру — свой метод интерпретации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194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79019"/>
            <a:ext cx="8953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76450" y="3579019"/>
            <a:ext cx="1682686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универсального метода интерпретации «на все случаи жизни» — метод подбирается под архитектуру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533542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379119"/>
            <a:ext cx="274701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CNN →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924300" y="4379119"/>
            <a:ext cx="13852779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карты активации, Grad-CAM (взвешенные по градиенту карты значимости областей изображения), saliency maps (карты значимости отдельных пикселей)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613552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552599"/>
            <a:ext cx="29337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RNN/LSTM →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24300" y="5552599"/>
            <a:ext cx="1479423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скрытого состояния, вклад отдельных шагов последовательности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730900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6352699"/>
            <a:ext cx="274701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Transformer/LLM →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924300" y="6352699"/>
            <a:ext cx="13852779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 maps, attention rollout, probing-классификаторы (небольшие вспомогательные классификаторы, обучаемые «считывать» скрытые представления модели), chain-of-thought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7526179"/>
            <a:ext cx="8953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—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076450" y="7526179"/>
            <a:ext cx="1682686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Практический вывод: выбирая архитектуру для суррогатной модели, сразу закладывайте, как вы будете её интерпретировать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 / 59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928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СУРРОГАТНЫЕ МОДЕЛИ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такое суррогатная модель?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396978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49228"/>
            <a:ext cx="990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209800" y="3349228"/>
            <a:ext cx="1561871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Суррогатная модель (surrogate model, метамодель, эмулятор) — быстрая аппроксимация дорогого «источника истины»: физического симулятора или эксперимента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5699998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652248"/>
            <a:ext cx="990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209800" y="4652248"/>
            <a:ext cx="1561871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Строится по ограниченному набору дорогих прогонов симулятора — учится предсказывать его выход по входным параметрам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5955268"/>
            <a:ext cx="990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209800" y="5955268"/>
            <a:ext cx="1561871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Зачем: один точный расчёт может занимать часы или дни — это делает невозможным перебор тысяч сценариев для оптимизации или анализа неопределённости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8154829"/>
            <a:ext cx="3930610" cy="1240631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770" y="8410099"/>
            <a:ext cx="3678257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217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Физический симулятор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207770" y="8850630"/>
            <a:ext cx="367825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часы / дни на один прогон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4806910" y="8154829"/>
            <a:ext cx="742950" cy="1278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C8C8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5511761" y="8154829"/>
            <a:ext cx="3930730" cy="1240631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5131" y="8602504"/>
            <a:ext cx="3155168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217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Прогоны + сбор данных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404390" y="8154829"/>
            <a:ext cx="742950" cy="1278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C8C8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0109240" y="8154829"/>
            <a:ext cx="3930610" cy="1240631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2610" y="8410099"/>
            <a:ext cx="3678257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217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Суррогатная модель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0402610" y="8850630"/>
            <a:ext cx="367825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обучается на этих данных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4001750" y="8154829"/>
            <a:ext cx="742950" cy="1278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C8C8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4706600" y="8154829"/>
            <a:ext cx="2667000" cy="1240631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26" name="Text 24"/>
          <p:cNvSpPr/>
          <p:nvPr/>
        </p:nvSpPr>
        <p:spPr>
          <a:xfrm>
            <a:off x="14992350" y="8402479"/>
            <a:ext cx="230505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14992350" y="8843010"/>
            <a:ext cx="230505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D1D1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миллисекунды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Forrester A., Sóbester A., Keane A. Engineering Design via Surrogate Modelling. – Chichester: Wiley, 2008.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31 / 59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928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СУРРОГАТНЫЕ МОДЕЛИ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Зачем суррогаты нужны в нефтедобыче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81333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33249"/>
            <a:ext cx="9906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2209800" y="3133249"/>
            <a:ext cx="1668018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Симулятор пласта решает системы нелинейных уравнений многофазного течения на сетке из миллионов ячеек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14400" y="518112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87654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2209800" y="4087654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композиционного моделирования одни только расчёты фазового равновесия (flash) могут занимать больше 50% времени всей симуляции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14400" y="696229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455444"/>
            <a:ext cx="990600" cy="1278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2209800" y="5455444"/>
            <a:ext cx="15618714" cy="1278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Из-за этой стоимости в отрасли давно используют «proxy-модели» (промысловый термин для суррогатов) — от классических ANN-прокси (ANN, Artificial Neural Network — искусственная нейронная сеть) до современных LSTM/Transformer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914400" y="7236619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2209800" y="7236619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 особенно оправдан там, где решение принимается многократно и быстро: оптимизация режима работы скважин, перебор сценариев разработки, поддержка решений в реальном времени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914400" y="9304020"/>
            <a:ext cx="15807203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Gaganis V., Samnioti A. et al. Applications of Machine Learning in Subsurface Reservoir Simulation — A Review, Part I // Energies. – 2023. – Vol. 16, No. 16, art. 6079.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32 / 59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928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СУРРОГАТНЫЕ МОДЕЛИ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Временные ряды как суррогатная модель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246007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98257"/>
            <a:ext cx="990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209800" y="3198257"/>
            <a:ext cx="1561871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Идея: вместо полного физического расчёта — LSTM/Transformer предсказывает динамику показателя во времени (дебит, давление, обводнённость) по входным управляющим параметрам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5549027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01277"/>
            <a:ext cx="990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209800" y="4501277"/>
            <a:ext cx="1561871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Пример: гибридная Transformer+LSTM модель предсказывает дебит нефти и обводнённость с ошибкой на валидации около 1% для конкретной модели пласта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5804297"/>
            <a:ext cx="990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209800" y="5804297"/>
            <a:ext cx="1561871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Другой приём: предобучение на дешёвых грубых сетках и дообучение на малом числе дорогих детальных прогонов — transfer learning с multi-fidelity данными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7852886"/>
            <a:ext cx="5046940" cy="126063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770" y="8108156"/>
            <a:ext cx="490622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217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Входные параметры режима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207770" y="8548688"/>
            <a:ext cx="49062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908"/>
              </a:lnSpc>
              <a:buNone/>
            </a:pPr>
            <a:r>
              <a:rPr lang="en-US" sz="18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управляющие воздействия во времени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5923240" y="7852886"/>
            <a:ext cx="742950" cy="1298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C8C8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6628090" y="7852886"/>
            <a:ext cx="5031820" cy="1260634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19" name="Text 17"/>
          <p:cNvSpPr/>
          <p:nvPr/>
        </p:nvSpPr>
        <p:spPr>
          <a:xfrm>
            <a:off x="6913840" y="8310562"/>
            <a:ext cx="249207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/ Transformer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1621810" y="7852886"/>
            <a:ext cx="742950" cy="1298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C8C8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2326660" y="7852886"/>
            <a:ext cx="5046940" cy="126063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20030" y="8108156"/>
            <a:ext cx="490622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217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кривой во времени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2620030" y="8548688"/>
            <a:ext cx="49062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908"/>
              </a:lnSpc>
              <a:buNone/>
            </a:pPr>
            <a:r>
              <a:rPr lang="en-US" sz="18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дебит(t), давление(t), …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14400" y="9304020"/>
            <a:ext cx="15807203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Zhang, Gong, Huang. A Transformer-LSTM Surrogate Model for Layered Water Injection Reservoir Simulation // EAGE APAC. – 2025; Cui, Sun, Jeong et al. // Petroleum Science. – 2025. – Vol. 22, No. 4.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33 / 59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928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СУРРОГАТНЫЕ МОДЕЛИ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Откуда берутся данные для суррогата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249097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11837"/>
            <a:ext cx="89535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76450" y="2311837"/>
            <a:ext cx="1575606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отличие от многих ML-задач, данные для суррогата не «даны заранее» — их нужно сгенерировать, запуская дорогой симулятор в заранее выбранных точках пространства параметров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4384477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47217"/>
            <a:ext cx="89535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076450" y="3447217"/>
            <a:ext cx="1575606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of Experiments (DoE, планирование эксперимента): равномерная сетка, случайная выборка, Latin Hypercube Sampling и другие схемы — по-разному покрывают пространство параметров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4582597"/>
            <a:ext cx="89535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076450" y="4582597"/>
            <a:ext cx="1575606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Чем хуже покрытие — тем больше риск, что модель не увидит важные комбинации параметров и не будет знать, как на них реагировать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5729407"/>
            <a:ext cx="16459200" cy="366605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4087416" y="5965627"/>
            <a:ext cx="10113050" cy="319349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Gaffney J. et al. Iterative sampling of expensive simulations for faster deep surrogate training // Contributions to Plasma Physics. – 2023.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34 / 59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928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СУРРОГАТНЫЕ МОДЕЛИ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Физически-обусловленные подходы: PINN и гибриды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13867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0887"/>
            <a:ext cx="89535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2076450" y="2330887"/>
            <a:ext cx="1575606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Physics-Informed Neural Network (PINN, «физически-осведомлённая» сеть) — сеть обучается одновременно подгоняться под данные И минимизировать невязку уравнений физики в дополнительных точках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14400" y="3531037"/>
            <a:ext cx="89535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2076450" y="3531037"/>
            <a:ext cx="1575606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Более лёгкая альтернатива — «residual / hybrid» подход: модель предсказывает не сырой результат, а поправку к упрощённой физической модели, беря лучшее от обеих сторон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914400" y="4799767"/>
            <a:ext cx="5237440" cy="429470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3970" y="5188387"/>
            <a:ext cx="4948130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181"/>
              </a:lnSpc>
              <a:buNone/>
            </a:pPr>
            <a:r>
              <a:rPr lang="en-US" sz="28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Чистый ML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283970" y="5814179"/>
            <a:ext cx="4633249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Обучается только на входо-выходных данных, ничего не знает о физике напрямую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532840" y="4799767"/>
            <a:ext cx="5222320" cy="4294704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94790" y="5180767"/>
            <a:ext cx="4948261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18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PINN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6894790" y="5806559"/>
            <a:ext cx="4633372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D1D1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Данные + невязка уравнений физики (PDE) как часть функции потерь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136160" y="4799767"/>
            <a:ext cx="5237440" cy="429470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505730" y="5188387"/>
            <a:ext cx="4948130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181"/>
              </a:lnSpc>
              <a:buNone/>
            </a:pPr>
            <a:r>
              <a:rPr lang="en-US" sz="28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Residual / Hybrid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505730" y="5814179"/>
            <a:ext cx="4633249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21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Предсказывает поправку к упрощённой физической модели, а не результат целиком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9304020"/>
            <a:ext cx="15807203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Raissi M., Perdikaris P., Karniadakis G.E. Physics-informed neural networks // J. Comput. Phys. – 2019. – Vol. 378. – P. 686–707; Chen, Gildin, Killough. arXiv:2305.09056 (2023).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35 / 59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928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СУРРОГАТНЫЕ МОДЕЛИ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Подводный камень: риск экстраполяции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558665"/>
            <a:ext cx="62865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57249"/>
            <a:ext cx="69151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153489"/>
            <a:ext cx="6475095" cy="1214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 обучен на конечном диапазоне параметров — за его пределами прогноз не гарантирован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14400" y="6596301"/>
            <a:ext cx="62865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794885"/>
            <a:ext cx="69151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191125"/>
            <a:ext cx="6475095" cy="1214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Внутри диапазона обучения суррогат почти идеально совпадает с физикой; за пределами расхождение может расти быстро и незаметно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14400" y="6832521"/>
            <a:ext cx="69151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7228761"/>
            <a:ext cx="6475095" cy="1606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Практический вывод: перед использованием суррогата для оптимизации проверяйте, не выходит ли предложенное решение за диапазон обучающих данных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7734300" y="2159437"/>
            <a:ext cx="9639300" cy="7236023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51470" y="3332321"/>
            <a:ext cx="9204960" cy="489013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Gaganis V., Samnioti A. et al. // Energies. – 2023. – Vol. 16, No. 16, art. 6079. График иллюстративный, подготовлен для лекции.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36 / 59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4928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СУРРОГАТНЫЕ МОДЕЛИ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Другие подводные камни суррогатного моделирования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451384"/>
            <a:ext cx="16459200" cy="139827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3970" y="3763804"/>
            <a:ext cx="333565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59"/>
              </a:lnSpc>
              <a:buNone/>
            </a:pPr>
            <a:r>
              <a:rPr lang="en-US" sz="232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Переобучение под артефакты симулятора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4865370" y="3763804"/>
            <a:ext cx="1250282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 может выучить не физику, а особенности численной схемы конкретного симулятора — он никогда не будет точнее того, на чём обучен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14400" y="5078254"/>
            <a:ext cx="16459200" cy="139827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3970" y="5390674"/>
            <a:ext cx="333565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59"/>
              </a:lnSpc>
              <a:buNone/>
            </a:pPr>
            <a:r>
              <a:rPr lang="en-US" sz="232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Физическая правдоподобность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4865370" y="5390674"/>
            <a:ext cx="1250282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прогнозы могут нарушать законы сохранения или монотонность (например, обводнённость «падает», хотя закачка воды растёт) — стоит закладывать проверки на такие нарушения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14400" y="6705124"/>
            <a:ext cx="16459200" cy="139827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3970" y="7017544"/>
            <a:ext cx="333565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59"/>
              </a:lnSpc>
              <a:buNone/>
            </a:pPr>
            <a:r>
              <a:rPr lang="en-US" sz="232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Оценка неопределённости (UQ)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4865370" y="7017544"/>
            <a:ext cx="1250282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uncertainty quantification: суррогат должен не только предсказывать значение, но и понимать, насколько он уверен в этом прогнозе — особенно важно ближе к границам обучающего диапазона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Sudret B. et al. Surrogate models for uncertainty quantification: An overview // Proc. IEEE. – 2017.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37 / 59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0283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REINFORCEMENT LEARNING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такое Reinforcement Learning?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24957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47549"/>
            <a:ext cx="99060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2209800" y="3247549"/>
            <a:ext cx="15618714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взаимодействует со средой: наблюдает состояние sₜ, выбирает действие aₜ по своей политике π, получает награду rₜ и переходит в новое состояние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14400" y="548782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485799"/>
            <a:ext cx="99060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2209800" y="4485799"/>
            <a:ext cx="15618714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Формальная рамка — Markov Decision Process (MDP, марковский процесс принятия решений): состояния, действия, вероятности перехода, награды, коэффициент дисконтирования γ (баланс между немедленной и долгосрочной выгодой)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14400" y="5724049"/>
            <a:ext cx="99060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2209800" y="5724049"/>
            <a:ext cx="15618714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Ключевое отличие от supervised learning: нет разметки «правильных ответов» — обучение идёт методом проб и ошибок по сигналу награды, который часто отложен и разрежен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14400" y="7833360"/>
            <a:ext cx="5554980" cy="1562100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3975" y="8176260"/>
            <a:ext cx="503583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88480" y="7833360"/>
            <a:ext cx="3349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3370"/>
              </a:lnSpc>
              <a:buNone/>
            </a:pPr>
            <a:r>
              <a:rPr lang="en-US" sz="225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←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7147203" y="7957185"/>
            <a:ext cx="4237077" cy="9525"/>
          </a:xfrm>
          <a:prstGeom prst="rect">
            <a:avLst/>
          </a:prstGeom>
          <a:solidFill>
            <a:srgbClr val="C8C8D0"/>
          </a:solidFill>
          <a:ln/>
        </p:spPr>
      </p:sp>
      <p:sp>
        <p:nvSpPr>
          <p:cNvPr id="18" name="Text 16"/>
          <p:cNvSpPr/>
          <p:nvPr/>
        </p:nvSpPr>
        <p:spPr>
          <a:xfrm>
            <a:off x="6663690" y="8185785"/>
            <a:ext cx="49453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состояние sₜ, награда rₜ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663690" y="8738235"/>
            <a:ext cx="49453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действие aₜ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888480" y="9262110"/>
            <a:ext cx="4237077" cy="9525"/>
          </a:xfrm>
          <a:prstGeom prst="rect">
            <a:avLst/>
          </a:prstGeom>
          <a:solidFill>
            <a:srgbClr val="C8C8D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25557" y="9138285"/>
            <a:ext cx="3349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3370"/>
              </a:lnSpc>
              <a:buNone/>
            </a:pPr>
            <a:r>
              <a:rPr lang="en-US" sz="225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803381" y="7833360"/>
            <a:ext cx="5570220" cy="156210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347" y="8183880"/>
            <a:ext cx="5036286" cy="899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Среда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Sutton R.S., Barto A.G. Reinforcement Learning: An Introduction. 2nd ed. – Cambridge, MA: MIT Press, 2018.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38 / 59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0283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REINFORCEMENT LEARNING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Семейства методов RL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22671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33249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2209800" y="3133249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Value-based (например, Q-learning, DQN — Deep Q-Network) — модель учит оценку «ценности» действий, затем действует, выбирая лучшую оценку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14400" y="559450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01039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2209800" y="4501039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Policy-based / policy-gradient (например, PPO — Proximal Policy Optimization) — модель напрямую учит саму политику; обычно устойчивее для непрерывных управляющих параметров (уставки клапанов, темп закачки и т.п.)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14400" y="696229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868829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2209800" y="5868829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Model-free vs model-based — model-free методы учатся только на взаимодействии со средой; model-based используют (явную или выученную) модель динамики среды, чтобы планировать наперёд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914400" y="7236619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2209800" y="7236619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углубляемся в детали алгоритмов на этой лекции — важно только знать, что семейства есть, и в непрерывном управлении чаще всего берут policy-gradient методы вроде PPO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914400" y="9304020"/>
            <a:ext cx="15807203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Mnih V. et al. Human-level control through deep reinforcement learning // Nature. – 2015. – Vol. 518. – P. 529–533; Schulman J. et al. // arXiv preprint. – 2017. – arXiv:1707.06347.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39 / 59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0283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REINFORCEMENT LEARNING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RL для управления скважинами и пластом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239226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99936"/>
            <a:ext cx="99060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2209800" y="3299936"/>
            <a:ext cx="15618714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Управление скважинами и пластом — по сути последовательное принятие решений: настройки (штуцер, темп закачки, режим добычи) меняются раз за разом на протяжении всей жизни месторождения, чтобы максимизировать долгосрочный NPV (Net Present Value, чистый дисконтированный доход) или КИН (коэффициент извлечения нефти) — это естественно ложится на рамку MDP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14400" y="705850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532597"/>
            <a:ext cx="990600" cy="1278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2209800" y="5532597"/>
            <a:ext cx="15618714" cy="1278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Nasir &amp; Durlofsky (2022) — политика на основе PPO для closed-loop reservoir management (CLRM, управление разработкой в замкнутом цикле): рост NPV на 15–33% по сравнению с robust optimization, при этом ~76% меньше прогонов симулятора, чем в традиционном CLRM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914400" y="7351872"/>
            <a:ext cx="99060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2209800" y="7351872"/>
            <a:ext cx="15618714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Nasir &amp; Durlofsky (2023) — общая политика для нескольких активов одновременно (multi-asset), ускорение обучения примерно в 3 раза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Nasir Y., Durlofsky L.J. // J. Comput. Phys. – 2022. – arXiv:2203.13375; Nasir Y., Durlofsky L.J. // Computational Geosciences. – 2023.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 / 59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0283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REINFORCEMENT LEARNING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RL и суррогатные модели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87822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47599"/>
            <a:ext cx="9906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209800" y="3647599"/>
            <a:ext cx="15618714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RL обычно требует огромного числа взаимодействий со средой (тысячи–миллионы эпизодов) — тренировать агента прямо на полном физическом симуляторе часто нереально по времени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" y="5209699"/>
            <a:ext cx="9906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2209800" y="5209699"/>
            <a:ext cx="15618714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5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Поэтому суррогатная модель из раздела 04 часто выступает «быстрой средой» для обучения RL-агента — агент учится на суррогате, а не на дорогом симуляторе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7833360"/>
            <a:ext cx="5760720" cy="156210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5157" y="8199120"/>
            <a:ext cx="3559207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Суррогатная модель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921675" y="8717280"/>
            <a:ext cx="192065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(быстрая среда)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7094220" y="7833360"/>
            <a:ext cx="3349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3370"/>
              </a:lnSpc>
              <a:buNone/>
            </a:pPr>
            <a:r>
              <a:rPr lang="en-US" sz="225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←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7352943" y="7957185"/>
            <a:ext cx="3856077" cy="9525"/>
          </a:xfrm>
          <a:prstGeom prst="rect">
            <a:avLst/>
          </a:prstGeom>
          <a:solidFill>
            <a:srgbClr val="C8C8D0"/>
          </a:solidFill>
          <a:ln/>
        </p:spPr>
      </p:sp>
      <p:sp>
        <p:nvSpPr>
          <p:cNvPr id="16" name="Text 14"/>
          <p:cNvSpPr/>
          <p:nvPr/>
        </p:nvSpPr>
        <p:spPr>
          <a:xfrm>
            <a:off x="6888480" y="8185785"/>
            <a:ext cx="4526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состояние, награда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888480" y="8738235"/>
            <a:ext cx="4526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действие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094220" y="9262110"/>
            <a:ext cx="3856077" cy="9525"/>
          </a:xfrm>
          <a:prstGeom prst="rect">
            <a:avLst/>
          </a:prstGeom>
          <a:solidFill>
            <a:srgbClr val="C8C8D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50298" y="9138285"/>
            <a:ext cx="3349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3370"/>
              </a:lnSpc>
              <a:buNone/>
            </a:pPr>
            <a:r>
              <a:rPr lang="en-US" sz="225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1628120" y="7833360"/>
            <a:ext cx="5745480" cy="1562100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865788" y="8157210"/>
            <a:ext cx="527014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RL-агент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41 / 59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0283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REINFORCEMENT LEARNING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Нюансы (1/2): неэффективность и reward hacking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957989"/>
            <a:ext cx="16459200" cy="1590675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3020" y="3289459"/>
            <a:ext cx="1725015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Sample inefficiency (низкая эффективность по данным)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03020" y="3830479"/>
            <a:ext cx="17250156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типичному RL-агенту нужны тысячи или миллионы эпизодов взаимодействия, чтобы научиться хорошей политике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14400" y="4796314"/>
            <a:ext cx="16459200" cy="197739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3020" y="5127784"/>
            <a:ext cx="1725015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Reward hacking («взлом» функции награды)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03020" y="5668804"/>
            <a:ext cx="16152419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 находит формальную лазейку в награде и оптимизирует именно её, а не то поведение, которое имели в виду разработчики; итог формально высокая награда, а по факту не та задача решена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14400" y="7021354"/>
            <a:ext cx="16459200" cy="1575435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345204"/>
            <a:ext cx="1726692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Практический вывод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95400" y="7886224"/>
            <a:ext cx="1726692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D1D1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дизайн функции награды — едва ли не самая сложная часть RL-проекта, а не второстепенная деталь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Weng L. Reward Hacking in Reinforcement Learning [Электронный ресурс] // lilianweng.github.io. – 2024.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42 / 59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0283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REINFORCEMENT LEARNING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Нюансы (2/2): нестабильность и безопасность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67248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13309"/>
            <a:ext cx="294322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59"/>
              </a:lnSpc>
              <a:buNone/>
            </a:pPr>
            <a:r>
              <a:rPr lang="en-US" sz="232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Нестабильность обучения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4152900" y="3613309"/>
            <a:ext cx="13617321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 RL часто сильно чувствителен к выбору гиперпараметров и даже к случайному seed (начальному значению генератора случайных чисел); один и тот же алгоритм может сойтись по-разному от запуска к запуску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14400" y="641175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965859"/>
            <a:ext cx="2943225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59"/>
              </a:lnSpc>
              <a:buNone/>
            </a:pPr>
            <a:r>
              <a:rPr lang="en-US" sz="232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Разрыв «суррогат/симулятор — реальность»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4152900" y="4965859"/>
            <a:ext cx="13617321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политика, обученная на суррогатной модели, может не перенестись на настоящее месторождение, если суррогат ошибается именно в тех режимах, которые RL-агент выбрал как «оптимальные» (прямая параллель с риском экстраполяции суррогата, раздел 04)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14400" y="6705124"/>
            <a:ext cx="2943225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59"/>
              </a:lnSpc>
              <a:buNone/>
            </a:pPr>
            <a:r>
              <a:rPr lang="en-US" sz="232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Безопасность и ограничения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4152900" y="6705124"/>
            <a:ext cx="13617321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явных ограничений RL-агент в процессе исследования может предложить физически недопустимое или опасное действие; нужно закладывать ограничения в саму постановку задачи, а не надеяться, что агент «сам поймёт»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García J., Fernández F. A Comprehensive Survey on Safe Reinforcement Learning // JMLR. – 2015.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43 / 59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3151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МУЛЬТИАГЕНТНЫЕ СИСТЕМЫ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такое мультиагентная система?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046821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842861"/>
            <a:ext cx="99060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2209800" y="3842861"/>
            <a:ext cx="15618714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24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Несколько автономных агентов действуют в общей среде: у каждого свои наблюдения и действия, но следующее состояние среды и награда каждого агента зависят от совместного действия всех</a:t>
            </a:r>
            <a:endParaRPr lang="en-US" sz="2475" dirty="0"/>
          </a:p>
        </p:txBody>
      </p:sp>
      <p:sp>
        <p:nvSpPr>
          <p:cNvPr id="9" name="Shape 7"/>
          <p:cNvSpPr/>
          <p:nvPr/>
        </p:nvSpPr>
        <p:spPr>
          <a:xfrm>
            <a:off x="914400" y="6142196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378291"/>
            <a:ext cx="990600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2209800" y="5378291"/>
            <a:ext cx="16680180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24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Формальная рамка — стохастическая игра (Markov / stochastic game), обобщение MDP на много игроков сразу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914400" y="6473666"/>
            <a:ext cx="99060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2209800" y="6473666"/>
            <a:ext cx="15618714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24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Ключевое отличие от одноагентного RL: агент должен учитывать не только динамику среды, но и поведение других агентов — кооперативное, конкурентное или заранее неизвестное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914400" y="9304020"/>
            <a:ext cx="15807203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Hernandez-Leal P. et al. A Survey of Learning in Multiagent Environments // arXiv:1707.09183 (2017); Albrecht S.V. et al. MARL: Foundations and Modern Approaches. – MIT Press, 2024.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44 / 59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3151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МУЛЬТИАГЕНТНЫЕ СИСТЕМЫ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Парадигмы координации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11837"/>
            <a:ext cx="89535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2076450" y="2311837"/>
            <a:ext cx="1575606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Плюс к архитектуре — кооперативная (общая цель), конкурентная (антагонистичная) или смешанная (mixed-motive) постановка задачи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14400" y="3409117"/>
            <a:ext cx="5237440" cy="568535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3020" y="3835837"/>
            <a:ext cx="4906220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181"/>
              </a:lnSpc>
              <a:buNone/>
            </a:pPr>
            <a:r>
              <a:rPr lang="en-US" sz="28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Централизованно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303020" y="4480679"/>
            <a:ext cx="4594006" cy="1999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контроллер видит всё и выбирает совместное действие. Оптимально в теории, но требует полной связи и не масштабируется на большое число агентов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6532840" y="3409117"/>
            <a:ext cx="5237559" cy="5685354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1461" y="3835837"/>
            <a:ext cx="4906351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181"/>
              </a:lnSpc>
              <a:buNone/>
            </a:pPr>
            <a:r>
              <a:rPr lang="en-US" sz="28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Децентрализованно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921461" y="4480679"/>
            <a:ext cx="4594129" cy="1606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агент учится и действует только по своим наблюдениям — дёшево и масштабируется, но «слеп» к координации с другими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2151400" y="3409117"/>
            <a:ext cx="5222200" cy="5685354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532400" y="3828217"/>
            <a:ext cx="4906220" cy="454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18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CTDE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532400" y="4473059"/>
            <a:ext cx="4594006" cy="1999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389"/>
              </a:lnSpc>
              <a:buNone/>
            </a:pPr>
            <a:r>
              <a:rPr lang="en-US" sz="2175" dirty="0">
                <a:solidFill>
                  <a:srgbClr val="D1D1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Centralized Training, Decentralized Execution (централизованное обучение, децентрализованное исполнение). Доминирующая парадигма современного MARL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14400" y="9304020"/>
            <a:ext cx="15807203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Lowe R. et al. MADDPG // NeurIPS. – 2017. – arXiv:1706.02275; Sunehag P. et al. VDN. – 2017. – arXiv:1706.05296; Rashid T. et al. QMIX. – 2018. – arXiv:1803.11485.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45 / 59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3151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МУЛЬТИАГЕНТНЫЕ СИСТЕМЫ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«агент на каждую скважину» не работает (1/2)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07812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2769"/>
            <a:ext cx="294322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217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Non-stationarity (нестационарность)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4152900" y="3102769"/>
            <a:ext cx="1361732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точки зрения одного агента среда выглядит нестационарной, потому что все остальные агенты одновременно меняют свою стратегию — «цель обучения плывёт»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528970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314349"/>
            <a:ext cx="294322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217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Физическая связанность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4152900" y="4314349"/>
            <a:ext cx="1361732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скважины в общем пласте физически связаны — закачка/добыча одной меняет давление у соседних; локально «оптимальное» действие одной скважины может ухудшить результат другой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5525929"/>
            <a:ext cx="294322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217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 из практики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4152900" y="5525929"/>
            <a:ext cx="1361732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оптимизации закачки CO₂ авторы явно отмечают, что одноагентный RL не справляется с одновременной оптимизацией нескольких скважин именно потому, что действия одной влияют на результаты других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7463790"/>
            <a:ext cx="3914775" cy="74676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3798" y="7661910"/>
            <a:ext cx="363597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Скв. 1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5095875" y="7463790"/>
            <a:ext cx="3914775" cy="74676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5273" y="7661910"/>
            <a:ext cx="363597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Скв. 2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277350" y="7463790"/>
            <a:ext cx="3914775" cy="74676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6748" y="7661910"/>
            <a:ext cx="363597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Скв. 3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3458825" y="7463790"/>
            <a:ext cx="3914775" cy="74676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598223" y="7661910"/>
            <a:ext cx="363597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Скв. 4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18661" y="8267700"/>
            <a:ext cx="43062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900136" y="8267700"/>
            <a:ext cx="43062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081611" y="8267700"/>
            <a:ext cx="43062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3263086" y="8267700"/>
            <a:ext cx="43062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14400" y="8644890"/>
            <a:ext cx="16459200" cy="769620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27" name="Text 25"/>
          <p:cNvSpPr/>
          <p:nvPr/>
        </p:nvSpPr>
        <p:spPr>
          <a:xfrm>
            <a:off x="877062" y="8854440"/>
            <a:ext cx="1653387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Общий пласт — общее давление, закачка/добыча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Hernandez-Leal P. et al. arXiv:1707.09183 (2017); Li Rongtao et al. A multi-agent deep RL method for CO2 flooding rates optimization, 2023.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46 / 59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3151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МУЛЬТИАГЕНТНЫЕ СИСТЕМЫ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«агент на каждую скважину» не работает (2/2)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42864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71336"/>
            <a:ext cx="3335655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902"/>
              </a:lnSpc>
              <a:buNone/>
            </a:pPr>
            <a:r>
              <a:rPr lang="en-US" sz="22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Credit assignment (проблема распределения вклада)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533900" y="3071336"/>
            <a:ext cx="1322489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когда общий результат (суммарная добыча, поддержание давления) — следствие совместных действий многих агентов, непонятно, какое действие какого агента привело к хорошему или плохому исходу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14400" y="6079331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722019"/>
            <a:ext cx="3335655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902"/>
              </a:lnSpc>
              <a:buNone/>
            </a:pPr>
            <a:r>
              <a:rPr lang="en-US" sz="22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«Проблема ленивого агента» (lazy agent problem)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533900" y="4722019"/>
            <a:ext cx="1322489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слабо информативной общей награде часть агентов может «спрятаться за спины» остальных, не внося настоящего вклада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14400" y="6372701"/>
            <a:ext cx="333565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902"/>
              </a:lnSpc>
              <a:buNone/>
            </a:pPr>
            <a:r>
              <a:rPr lang="en-US" sz="22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Комбинаторный взрыв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533900" y="6372701"/>
            <a:ext cx="13224891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 полностью централизованного подхода пространство совместных действий растёт экспоненциально с числом агентов — поэтому и «один большой агент на все скважины» не масштабируется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14400" y="8134350"/>
            <a:ext cx="16459200" cy="1280160"/>
          </a:xfrm>
          <a:prstGeom prst="rect">
            <a:avLst/>
          </a:prstGeom>
          <a:solidFill>
            <a:srgbClr val="E8E9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8439150"/>
            <a:ext cx="1002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ВЫВОД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488883" y="8401050"/>
            <a:ext cx="14978073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100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 полная независимость агентов, и полная централизация упираются в свои пределы — нужен промежуточный вариант координации.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Sunehag P. et al. Value-Decomposition Networks // arXiv:1706.05296 (2017).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47 / 59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3151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МУЛЬТИАГЕНТНЫЕ СИСТЕМЫ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CTDE и разложение ценности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70677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02819"/>
            <a:ext cx="99060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2209800" y="3502819"/>
            <a:ext cx="15618714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24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Value decomposition (VDN — Value-Decomposition Networks, QMIX) — раскладывают общую ценность команды на вклад отдельных агентов, что напрямую решает credit assignment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914400" y="5038249"/>
            <a:ext cx="99060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2209800" y="5038249"/>
            <a:ext cx="15618714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24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MADDPG (Multi-Agent Deep Deterministic Policy Gradient) — общий критик, обучающийся на совместных действиях всех агентов, при этом каждый агент действует по своей локальной политике</a:t>
            </a:r>
            <a:endParaRPr lang="en-US" sz="2475" dirty="0"/>
          </a:p>
        </p:txBody>
      </p:sp>
      <p:sp>
        <p:nvSpPr>
          <p:cNvPr id="11" name="Shape 9"/>
          <p:cNvSpPr/>
          <p:nvPr/>
        </p:nvSpPr>
        <p:spPr>
          <a:xfrm>
            <a:off x="914400" y="7490460"/>
            <a:ext cx="7745730" cy="1905000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76350" y="7814310"/>
            <a:ext cx="772401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 — централизованно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76350" y="8336280"/>
            <a:ext cx="723248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D1D1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доступ к общей информации: состояния и действия всех агентов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8622030" y="7490460"/>
            <a:ext cx="10287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dirty="0">
                <a:solidFill>
                  <a:srgbClr val="C8C8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612630" y="7490460"/>
            <a:ext cx="7760970" cy="190500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82200" y="7821930"/>
            <a:ext cx="772401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Исполнение — децентрализовано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982200" y="8343900"/>
            <a:ext cx="723248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агент действует только по своим локальным наблюдениям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Sunehag P. et al. arXiv:1706.05296 (2017); Rashid T. et al. arXiv:1803.11485 (2018); Lowe R. et al. arXiv:1706.02275 (2017).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48 / 59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3151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МУЛЬТИАГЕНТНЫЕ СИСТЕМЫ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Другие механизмы координации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02681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14738"/>
            <a:ext cx="3335655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59"/>
              </a:lnSpc>
              <a:buNone/>
            </a:pPr>
            <a:r>
              <a:rPr lang="en-US" sz="232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Общая vs индивидуальная награда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4533900" y="3614738"/>
            <a:ext cx="13224891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reward (командная награда) снимает часть проблемы credit assignment, но создаёт свою (см. «ленивого агента»); индивидуальная награда рискует тем самым эффектом «каждый сам за себя»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751320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339239"/>
            <a:ext cx="3335655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59"/>
              </a:lnSpc>
              <a:buNone/>
            </a:pPr>
            <a:r>
              <a:rPr lang="en-US" sz="232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Обучаемая коммуникация между агентами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4533900" y="5339239"/>
            <a:ext cx="13224891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агенты обмениваются сообщениями через общую сеть, обучаемую end-to-end, а не жёстко заданным протоколом (CommNet)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7063740"/>
            <a:ext cx="333565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59"/>
              </a:lnSpc>
              <a:buNone/>
            </a:pPr>
            <a:r>
              <a:rPr lang="en-US" sz="2325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Иерархические структуры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4533900" y="7063740"/>
            <a:ext cx="1322489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координатор/менеджер верхнего уровня плюс локальные агенты-исполнители, альтернатива «плоской» схеме из полностью независимых агентов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9585960"/>
            <a:ext cx="168814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Ист.: Sukhbaatar S., Szlam A., Fergus R. Learning Multiagent Communication with Backpropagation // NeurIPS. – 2016. – arXiv:1605.07736.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718399" y="95859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49 / 59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43151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МУЛЬТИАГЕНТНЫЕ СИСТЕМЫ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Итог: на что обратить внимание в своей архитектуре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02794"/>
            <a:ext cx="16459200" cy="148971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3020" y="3634264"/>
            <a:ext cx="89535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465070" y="3634264"/>
            <a:ext cx="14955508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берите независимых агентов без механизма координации «по умолчанию» — «один агент на скважину» без общей информации почти гарантированно наткнётся на нестационарность и credit assignment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14400" y="5040154"/>
            <a:ext cx="16459200" cy="1474470"/>
          </a:xfrm>
          <a:prstGeom prst="rect">
            <a:avLst/>
          </a:prstGeom>
          <a:solidFill>
            <a:srgbClr val="2D34FF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5364004"/>
            <a:ext cx="89535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AAAA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457450" y="5364004"/>
            <a:ext cx="14971205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Варианты, которые стоит рассмотреть: общий/командный сигнал награды, value decomposition, коммуникация между агентами, иерархическая структура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14400" y="6762274"/>
            <a:ext cx="16459200" cy="1489710"/>
          </a:xfrm>
          <a:prstGeom prst="rect">
            <a:avLst/>
          </a:prstGeom>
          <a:solidFill>
            <a:srgbClr val="F5F5F7"/>
          </a:solidFill>
          <a:ln w="7620">
            <a:solidFill>
              <a:srgbClr val="E8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3020" y="7093744"/>
            <a:ext cx="895350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465070" y="7093744"/>
            <a:ext cx="14955508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426"/>
              </a:lnSpc>
              <a:buNone/>
            </a:pPr>
            <a:r>
              <a:rPr lang="en-US" sz="23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Конкретный выбор архитектуры зависит от вашей задачи и остаётся за вами — здесь дана только карта вариантов, а не готовый рецепт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50 / 59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22970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ИТОГИ ЛЕКЦИИ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мы прошли за 90 минут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924901"/>
            <a:ext cx="77724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59016"/>
            <a:ext cx="685800" cy="115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828800" y="3559016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Введение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4008596"/>
            <a:ext cx="7063740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Learning как «чёрный ящик»: формализация, градиентный спуск, нелинейность, train/val/test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601200" y="4924901"/>
            <a:ext cx="77724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0" y="3559016"/>
            <a:ext cx="685800" cy="115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515600" y="3559016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Суррогатные модели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15600" y="4008596"/>
            <a:ext cx="7063740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Быстрая аппроксимация дорогого симулятора; риск экстраполяции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6546057"/>
            <a:ext cx="77724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180172"/>
            <a:ext cx="685800" cy="115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828800" y="5180172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RNN → LSTM → Transformer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5629751"/>
            <a:ext cx="7063740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рекуррентности к вниманию — как сети научились работать с последовательностями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601200" y="6546057"/>
            <a:ext cx="77724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5180172"/>
            <a:ext cx="685800" cy="115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515600" y="5180172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Reinforcement Learning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515600" y="5629751"/>
            <a:ext cx="7063740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Управление как последовательное принятие решений; reward hacking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14400" y="6801326"/>
            <a:ext cx="685800" cy="115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828800" y="6801326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Интерпретируемость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828800" y="7250906"/>
            <a:ext cx="7063740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 maps, attention rollout, chain-of-thought — и их пределы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601200" y="6801326"/>
            <a:ext cx="685800" cy="115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0515600" y="6801326"/>
            <a:ext cx="7543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Мультиагентные системы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515600" y="7250906"/>
            <a:ext cx="7063740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«агент на скважину» не масштабируется без координации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51 / 59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22970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ИТОГИ ЛЕКЦИИ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Сквозные принципы для любого трека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865245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44165"/>
            <a:ext cx="294322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902"/>
              </a:lnSpc>
              <a:buNone/>
            </a:pPr>
            <a:r>
              <a:rPr lang="en-US" sz="22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Гигиена данных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152900" y="2844165"/>
            <a:ext cx="13617321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перемешивание и корректное разбиение train/validation/test — и для «настоящих» данных, и для прогонов симулятора (разделы 01, 04)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14400" y="5141595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20515"/>
            <a:ext cx="294322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902"/>
              </a:lnSpc>
              <a:buNone/>
            </a:pPr>
            <a:r>
              <a:rPr lang="en-US" sz="22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Риск экстраполяции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152900" y="4120515"/>
            <a:ext cx="13617321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любая модель (суррогат, RL-политика) надёжна только внутри диапазона, на котором обучалась — проверяйте выход за границы обучающих данных (разделы 04, 05)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14400" y="6716078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396865"/>
            <a:ext cx="2943225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902"/>
              </a:lnSpc>
              <a:buNone/>
            </a:pPr>
            <a:r>
              <a:rPr lang="en-US" sz="22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Интерпретируемость закладывается заранее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152900" y="5396865"/>
            <a:ext cx="1361732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выбирая архитектуру, сразу думайте, как вы будете объяснять её решения (раздел 03)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14400" y="7605713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6971348"/>
            <a:ext cx="314325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902"/>
              </a:lnSpc>
              <a:buNone/>
            </a:pPr>
            <a:r>
              <a:rPr lang="en-US" sz="22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Дизайн награды в RL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4152900" y="6971348"/>
            <a:ext cx="1454277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едва ли не самая сложная часть проекта, а не деталь (раздел 05)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914400" y="7860982"/>
            <a:ext cx="2943225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902"/>
              </a:lnSpc>
              <a:buNone/>
            </a:pPr>
            <a:r>
              <a:rPr lang="en-US" sz="225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Координация в МАС нужна с самого начала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4152900" y="7860982"/>
            <a:ext cx="13617321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78"/>
              </a:lnSpc>
              <a:buNone/>
            </a:pPr>
            <a:r>
              <a:rPr lang="en-US" sz="2175" dirty="0">
                <a:solidFill>
                  <a:srgbClr val="606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«один агент на скважину» без общего сигнала почти гарантированно наткнётся на нестационарность (раздел 06)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52 / 59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D3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AAA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 · ИТОГИ ЛЕКЦИИ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276350"/>
            <a:ext cx="16459200" cy="9525"/>
          </a:xfrm>
          <a:prstGeom prst="rect">
            <a:avLst/>
          </a:prstGeom>
          <a:solidFill>
            <a:srgbClr val="5B61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252907"/>
            <a:ext cx="14716125" cy="213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667"/>
              </a:lnSpc>
              <a:buNone/>
            </a:pPr>
            <a:r>
              <a:rPr lang="en-US" sz="7800" b="1" kern="0" spc="-1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Инструментарий, а не готовое решение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14400" y="5772031"/>
            <a:ext cx="13735050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550" dirty="0">
                <a:solidFill>
                  <a:srgbClr val="D1D1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Математика, LSTM, Transformer, суррогатные модели, RL и МАС — это словарь и набор инструментов. Архитектуру для своего трека команды придумывают сами: под свои данные, ограничения и цели по NPV.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147810"/>
            <a:ext cx="16459200" cy="9525"/>
          </a:xfrm>
          <a:prstGeom prst="rect">
            <a:avLst/>
          </a:prstGeom>
          <a:solidFill>
            <a:srgbClr val="5B61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403080"/>
            <a:ext cx="823387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Удачи на хакатоне AIOS 2026 · Партнёр хакатона — Татнефть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6718399" y="9471660"/>
            <a:ext cx="7314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AAA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53 / 59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2274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СПИСОК ЛИТЕРАТУРЫ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01 · Введение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737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82679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21944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209800" y="4121944"/>
            <a:ext cx="166801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Goodfellow I., Bengio Y., Courville A. Deep Learning. – Cambridge, MA: MIT Press, 2016.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24411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139214"/>
            <a:ext cx="990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209800" y="5139214"/>
            <a:ext cx="1561871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Rumelhart D.E., Hinton G.E., Williams R.J. Learning representations by back-propagating errors // Nature. – 1986. – Vol. 323. – P. 533–536.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6556534"/>
            <a:ext cx="990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209800" y="6556534"/>
            <a:ext cx="1561871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30"/>
              </a:lnSpc>
              <a:buNone/>
            </a:pPr>
            <a:r>
              <a:rPr lang="en-US" sz="22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3Blue1Brown. Neural Networks [Электронный ресурс]: видеоплейлист // YouTube. – URL: https://www.youtube.com/@3blue1brown (дата обращения: 10.08.2026).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54 / 59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2274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СПИСОК ЛИТЕРАТУРЫ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02 · RNN → LSTM → Transformer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22862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78079"/>
            <a:ext cx="8953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2076450" y="3678079"/>
            <a:ext cx="1682686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Hochreiter S., Schmidhuber J. Long Short-Term Memory // Neural Computation. – 1997. – Vol. 9, No. 8. – P. 1735–1780.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14400" y="497728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426744"/>
            <a:ext cx="8953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2076450" y="4426744"/>
            <a:ext cx="1682686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 K. et al. Learning Phrase Representations using RNN Encoder–Decoder for Statistical Machine Translation // Proc. EMNLP. – 2014.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14400" y="572595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175409"/>
            <a:ext cx="8953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2076450" y="5175409"/>
            <a:ext cx="1682686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Bahdanau D., Cho K., Bengio Y. Neural Machine Translation by Jointly Learning to Align and Translate // arXiv preprint. – 2015. – arXiv:1409.0473.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14400" y="647461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924074"/>
            <a:ext cx="8953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2076450" y="5924074"/>
            <a:ext cx="1682686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Vaswani A. et al. Attention Is All You Need // Advances in NeurIPS. – 2017. – arXiv:1706.03762.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14400" y="722328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672739"/>
            <a:ext cx="8953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—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2076450" y="6672739"/>
            <a:ext cx="1682686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Dao T. et al. FlashAttention: Fast and Memory-Efficient Exact Attention with IO-Awareness // Advances in NeurIPS. – 2022. – arXiv:2205.14135.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14400" y="7421404"/>
            <a:ext cx="8953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 —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2076450" y="7421404"/>
            <a:ext cx="1682686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Jiang A.Q. et al. Mixtral of Experts // arXiv preprint. – 2024. – arXiv:2401.04088.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55 / 59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2274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СПИСОК ЛИТЕРАТУРЫ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03 · Интерпретируемость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048601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98056"/>
            <a:ext cx="8953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2076450" y="3498056"/>
            <a:ext cx="1682686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Vaswani A. et al. Attention Is All You Need // Advances in NeurIPS. – 2017. – arXiv:1706.03762. (источник иллюстраций внимания)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14400" y="4797266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46721"/>
            <a:ext cx="8953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2076450" y="4246721"/>
            <a:ext cx="1682686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Abnar S., Zuidema W. Quantifying Attention Flow in Transformers // Proc. ACL. – 2020. – arXiv:2005.00928.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14400" y="5545931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995386"/>
            <a:ext cx="8953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2076450" y="4995386"/>
            <a:ext cx="1682686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Jain S., Wallace B.C. Attention is not Explanation // Proc. NAACL-HLT. – 2019. – arXiv:1902.10186.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14400" y="6294596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744051"/>
            <a:ext cx="8953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2076450" y="5744051"/>
            <a:ext cx="1682686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Wiegreffe S., Pinter Y. Attention is not not Explanation // Proc. EMNLP-IJCNLP. – 2019. – arXiv:1908.04626.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14400" y="7043261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492716"/>
            <a:ext cx="8953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—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2076450" y="6492716"/>
            <a:ext cx="1682686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Wei J. et al. Chain-of-Thought Prompting Elicits Reasoning in Large Language Models // Advances in NeurIPS. – 2022. – arXiv:2201.11903.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14400" y="7241381"/>
            <a:ext cx="89535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 —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2076450" y="7241381"/>
            <a:ext cx="1575606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44"/>
              </a:lnSpc>
              <a:buNone/>
            </a:pPr>
            <a:r>
              <a:rPr lang="en-US" sz="202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Turpin M. et al. Language Models Don't Always Say What They Think: Unfaithful Explanations in Chain-of-Thought Prompting // Advances in NeurIPS. – 2023. – arXiv:2305.04388.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56 / 59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2274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СПИСОК ЛИТЕРАТУРЫ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04 · Суррогатные модели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3561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202781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31294"/>
            <a:ext cx="838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981200" y="2731294"/>
            <a:ext cx="169316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87"/>
              </a:lnSpc>
              <a:buNone/>
            </a:pPr>
            <a:r>
              <a:rPr lang="en-US" sz="18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Forrester A., Sóbester A., Keane A. Engineering Design via Surrogate Modelling: A Practical Guide. – Chichester: Wiley, 2008.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14400" y="4153376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53276"/>
            <a:ext cx="838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981200" y="3353276"/>
            <a:ext cx="1585417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87"/>
              </a:lnSpc>
              <a:buNone/>
            </a:pPr>
            <a:r>
              <a:rPr lang="en-US" sz="18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Gaganis V., Samnioti A. et al. Applications of Machine Learning in Subsurface Reservoir Simulation — A Review, Part I // Energies. – 2023. – Vol. 16, No. 16, art. 6079.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14400" y="5103971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03871"/>
            <a:ext cx="838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981200" y="4303871"/>
            <a:ext cx="1585417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87"/>
              </a:lnSpc>
              <a:buNone/>
            </a:pPr>
            <a:r>
              <a:rPr lang="en-US" sz="18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Zhang [и др.] A Transformer-LSTM Surrogate Model for Layered Water Injection Reservoir Simulation and Well Control Optimization // Proc. EAGE APAC. – 2025.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14400" y="6054567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254466"/>
            <a:ext cx="838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981200" y="5254466"/>
            <a:ext cx="1585417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87"/>
              </a:lnSpc>
              <a:buNone/>
            </a:pPr>
            <a:r>
              <a:rPr lang="en-US" sz="18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Cui [и др.] Efficient deep-learning-based surrogate model for reservoir production optimization using transfer learning and multi-fidelity data // Petroleum Science. – 2025. – Vol. 22, No. 4.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14400" y="6676549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205061"/>
            <a:ext cx="838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—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981200" y="6205061"/>
            <a:ext cx="169316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87"/>
              </a:lnSpc>
              <a:buNone/>
            </a:pPr>
            <a:r>
              <a:rPr lang="en-US" sz="18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Raissi M., Perdikaris P., Karniadakis G.E. Physics-informed neural networks // Journal of Computational Physics. – 2019. – Vol. 378. – P. 686–707.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14400" y="762714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6827044"/>
            <a:ext cx="838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 —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981200" y="6827044"/>
            <a:ext cx="1585417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87"/>
              </a:lnSpc>
              <a:buNone/>
            </a:pPr>
            <a:r>
              <a:rPr lang="en-US" sz="18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Chen Y., Gildin E., Killough J.E. Physics-informed Convolutional Recurrent Surrogate Model for Reservoir Simulation with Well Controls // arXiv preprint. – 2023. – arXiv:2305.09056.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14400" y="8249126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7777639"/>
            <a:ext cx="838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 —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981200" y="7777639"/>
            <a:ext cx="169316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87"/>
              </a:lnSpc>
              <a:buNone/>
            </a:pPr>
            <a:r>
              <a:rPr lang="en-US" sz="18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Sudret B. et al. Surrogate models for uncertainty quantification: An overview // Proc. IEEE. – 2017.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914400" y="8399622"/>
            <a:ext cx="838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 —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981200" y="8399622"/>
            <a:ext cx="169316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87"/>
              </a:lnSpc>
              <a:buNone/>
            </a:pPr>
            <a:r>
              <a:rPr lang="en-US" sz="1875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Gaffney J. et al. Iterative sampling of expensive simulations for faster deep surrogate training // Contributions to Plasma Physics. – 2023.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57 / 59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2274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СПИСОК ЛИТЕРАТУРЫ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05 · Reinforcement Learning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80952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91364"/>
            <a:ext cx="876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38350" y="3291364"/>
            <a:ext cx="168687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Sutton R.S., Barto A.G. Reinforcement Learning: An Introduction. 2nd ed. – Cambridge, MA: MIT Press, 2018.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400" y="450675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8594"/>
            <a:ext cx="876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38350" y="3988594"/>
            <a:ext cx="168687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Mnih V. et al. Human-level control through deep reinforcement learning // Nature. – 2015. – Vol. 518. – P. 529–533.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20398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685824"/>
            <a:ext cx="876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38350" y="4685824"/>
            <a:ext cx="168687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Schulman J. et al. Proximal Policy Optimization Algorithms // arXiv preprint. – 2017. – arXiv:1707.06347.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624792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383054"/>
            <a:ext cx="876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38350" y="5383054"/>
            <a:ext cx="1579530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Nasir Y., Durlofsky L.J. Deep reinforcement learning for optimal well control in subsurface systems with uncertain geology // Journal of Computational Physics. – 2022. – arXiv:2203.13375.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694515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426994"/>
            <a:ext cx="876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—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38350" y="6426994"/>
            <a:ext cx="168687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Nasir Y., Durlofsky L.J. Multi-asset closed-loop reservoir management using deep reinforcement learning // Computational Geosciences. – 2023.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764238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7124224"/>
            <a:ext cx="876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 —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38350" y="7124224"/>
            <a:ext cx="168687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Weng L. Reward Hacking in Reinforcement Learning [Электронный ресурс] // lilianweng.github.io. – 2024.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7821454"/>
            <a:ext cx="876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 —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2038350" y="7821454"/>
            <a:ext cx="168687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García J., Fernández F. A Comprehensive Survey on Safe Reinforcement Learning // Journal of Machine Learning Research. – 2015. – Vol. 16.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58 / 59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28650"/>
            <a:ext cx="3465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451491" y="643890"/>
            <a:ext cx="32274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8888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СПИСОК ЛИТЕРАТУРЫ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5716250" cy="667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20"/>
              </a:lnSpc>
              <a:buNone/>
            </a:pPr>
            <a:r>
              <a:rPr lang="en-US" sz="4350" b="1" kern="0" spc="-43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06 · Мультиагентные системы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14400" y="2054662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5623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91364"/>
            <a:ext cx="876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—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38350" y="3291364"/>
            <a:ext cx="1579530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Hernandez-Leal P., Kaisers M., Baarslag T., de Cote E.M. A Survey of Learning in Multiagent Environments: Dealing with Non-Stationarity // arXiv preprint. – 2017. – arXiv:1707.09183.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400" y="485346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335304"/>
            <a:ext cx="876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38350" y="4335304"/>
            <a:ext cx="168687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Albrecht S.V., Christianos F., Schäfer L. Multi-Agent Reinforcement Learning: Foundations and Modern Approaches. – Cambridge, MA: MIT Press, 2024.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55069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032534"/>
            <a:ext cx="876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38350" y="5032534"/>
            <a:ext cx="168687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Sunehag P. et al. Value-Decomposition Networks for Cooperative Multi-Agent Learning // arXiv preprint. – 2017. – arXiv:1706.05296.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624792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729764"/>
            <a:ext cx="876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38350" y="5729764"/>
            <a:ext cx="168687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Rashid T. et al. QMIX: Monotonic Value Function Factorisation for Deep Multi-Agent Reinforcement Learning // Proc. ICML. – 2018. – arXiv:1803.11485.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694515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426994"/>
            <a:ext cx="876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—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38350" y="6426994"/>
            <a:ext cx="168687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Lowe R. et al. Multi-Agent Actor-Critic for Mixed Cooperative-Competitive Environments // Advances in NeurIPS. – 2017. – arXiv:1706.02275.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7642384"/>
            <a:ext cx="16459200" cy="9525"/>
          </a:xfrm>
          <a:prstGeom prst="rect">
            <a:avLst/>
          </a:prstGeom>
          <a:solidFill>
            <a:srgbClr val="E8E8E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7124224"/>
            <a:ext cx="876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 —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38350" y="7124224"/>
            <a:ext cx="168687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 Rongtao et al. A multi-agent deep reinforcement learning method for CO2 flooding rates optimization. – 2023.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7821454"/>
            <a:ext cx="876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D34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 —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2038350" y="7821454"/>
            <a:ext cx="168687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95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Sukhbaatar S., Szlam A., Fergus R. Learning Multiagent Communication with Backpropagation // Advances in NeurIPS. – 2016. – arXiv:1605.07736.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420624" y="9585960"/>
            <a:ext cx="16952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090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59 / 59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7557</Words>
  <Application>Microsoft Office PowerPoint</Application>
  <PresentationFormat>Произвольный</PresentationFormat>
  <Paragraphs>862</Paragraphs>
  <Slides>60</Slides>
  <Notes>60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4" baseType="lpstr">
      <vt:lpstr>Arial</vt:lpstr>
      <vt:lpstr>Calibri</vt:lpstr>
      <vt:lpstr>Carlito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2026-08-11T09:20:37Z</dcterms:created>
  <dcterms:modified xsi:type="dcterms:W3CDTF">2026-08-11T09:20:51Z</dcterms:modified>
</cp:coreProperties>
</file>