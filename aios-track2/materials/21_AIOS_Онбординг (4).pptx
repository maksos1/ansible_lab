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650" r:id="rId2"/>
  </p:sldMasterIdLst>
  <p:notesMasterIdLst>
    <p:notesMasterId r:id="rId19"/>
  </p:notesMasterIdLst>
  <p:sldIdLst>
    <p:sldId id="256" r:id="rId3"/>
    <p:sldId id="257" r:id="rId4"/>
    <p:sldId id="279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78" r:id="rId13"/>
    <p:sldId id="268" r:id="rId14"/>
    <p:sldId id="277" r:id="rId15"/>
    <p:sldId id="276" r:id="rId16"/>
    <p:sldId id="272" r:id="rId17"/>
    <p:sldId id="275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4FF"/>
    <a:srgbClr val="8F92FF"/>
    <a:srgbClr val="575DFF"/>
    <a:srgbClr val="D1D1FF"/>
    <a:srgbClr val="AAAAFF"/>
    <a:srgbClr val="E3C0DB"/>
    <a:srgbClr val="7C7EFF"/>
    <a:srgbClr val="F5F5F7"/>
    <a:srgbClr val="909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59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471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613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097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53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42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97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/>
          <p:nvPr/>
        </p:nvSpPr>
        <p:spPr>
          <a:xfrm>
            <a:off x="365760" y="914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011680" y="128016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 конкурсе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971800" y="128016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Хакатон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931920" y="128016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Новости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892040" y="128016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365760" y="662940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/>
          <p:cNvSpPr/>
          <p:nvPr/>
        </p:nvSpPr>
        <p:spPr>
          <a:xfrm>
            <a:off x="566928" y="5669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ХАКАТОН · </a:t>
            </a:r>
            <a:r>
              <a:rPr lang="ru-RU" sz="8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8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8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АВГУСТА</a:t>
            </a:r>
            <a:r>
              <a:rPr lang="en-US" sz="8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80467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Хакатон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65760" y="15087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AIOS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65760" y="23317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150"/>
              <a:buFont typeface="Calibri"/>
              <a:buNone/>
            </a:pPr>
            <a:r>
              <a:rPr lang="ru-RU" sz="115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ИИ-</a:t>
            </a:r>
            <a:r>
              <a:rPr lang="ru-RU" sz="115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центричная</a:t>
            </a:r>
            <a:r>
              <a:rPr lang="ru-RU" sz="115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Операционная Система управления разработкой месторождения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365760" y="2999232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3"/>
          <p:cNvSpPr/>
          <p:nvPr/>
        </p:nvSpPr>
        <p:spPr>
          <a:xfrm>
            <a:off x="365760" y="31089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1 млн </a:t>
            </a:r>
            <a:r>
              <a:rPr lang="en-US" sz="2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₽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5760" y="363931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Призовой фонд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468880" y="31089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468880" y="363931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Недели разработки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0" y="31089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3–5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0" y="363931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Человек в команде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675120" y="31089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675120" y="363931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Инженерных трека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3"/>
          <p:cNvCxnSpPr/>
          <p:nvPr/>
        </p:nvCxnSpPr>
        <p:spPr>
          <a:xfrm>
            <a:off x="365760" y="393192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3"/>
          <p:cNvSpPr/>
          <p:nvPr/>
        </p:nvSpPr>
        <p:spPr>
          <a:xfrm>
            <a:off x="365760" y="40690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ru-RU" sz="800" b="1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.2026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286000" y="40690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КОМАНДЫ: 3–5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657600" y="40690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00"/>
              <a:buFont typeface="Calibri"/>
              <a:buNone/>
            </a:pPr>
            <a:r>
              <a:rPr lang="ru-RU" sz="800" dirty="0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ОРГАНИЗАТОР</a:t>
            </a:r>
            <a:r>
              <a:rPr lang="en-US" sz="800" b="0" i="0" u="none" strike="noStrike" cap="none" dirty="0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 sz="800" b="0" i="0" u="none" strike="noStrike" cap="none" dirty="0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ПАО </a:t>
            </a:r>
            <a:r>
              <a:rPr lang="en-US" sz="800" b="0" i="0" u="none" strike="noStrike" cap="none" dirty="0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ТАТНЕФТЬ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303525" y="502924"/>
            <a:ext cx="3474600" cy="2496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3"/>
          <p:cNvCxnSpPr>
            <a:stCxn id="42" idx="0"/>
            <a:endCxn id="43" idx="2"/>
          </p:cNvCxnSpPr>
          <p:nvPr/>
        </p:nvCxnSpPr>
        <p:spPr>
          <a:xfrm rot="10800000" flipH="1">
            <a:off x="5920740" y="1014900"/>
            <a:ext cx="1146000" cy="356700"/>
          </a:xfrm>
          <a:prstGeom prst="straightConnector1">
            <a:avLst/>
          </a:prstGeom>
          <a:noFill/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Google Shape;44;p3"/>
          <p:cNvCxnSpPr>
            <a:stCxn id="43" idx="2"/>
          </p:cNvCxnSpPr>
          <p:nvPr/>
        </p:nvCxnSpPr>
        <p:spPr>
          <a:xfrm>
            <a:off x="7066789" y="1014840"/>
            <a:ext cx="0" cy="368400"/>
          </a:xfrm>
          <a:prstGeom prst="straightConnector1">
            <a:avLst/>
          </a:prstGeom>
          <a:noFill/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3"/>
          <p:cNvCxnSpPr>
            <a:stCxn id="43" idx="2"/>
          </p:cNvCxnSpPr>
          <p:nvPr/>
        </p:nvCxnSpPr>
        <p:spPr>
          <a:xfrm>
            <a:off x="7066789" y="1014840"/>
            <a:ext cx="1044000" cy="356700"/>
          </a:xfrm>
          <a:prstGeom prst="straightConnector1">
            <a:avLst/>
          </a:prstGeom>
          <a:noFill/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3"/>
          <p:cNvCxnSpPr>
            <a:endCxn id="47" idx="0"/>
          </p:cNvCxnSpPr>
          <p:nvPr/>
        </p:nvCxnSpPr>
        <p:spPr>
          <a:xfrm>
            <a:off x="5916233" y="1572747"/>
            <a:ext cx="4500" cy="621900"/>
          </a:xfrm>
          <a:prstGeom prst="straightConnector1">
            <a:avLst/>
          </a:prstGeom>
          <a:noFill/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48;p3"/>
          <p:cNvCxnSpPr>
            <a:stCxn id="49" idx="2"/>
            <a:endCxn id="50" idx="0"/>
          </p:cNvCxnSpPr>
          <p:nvPr/>
        </p:nvCxnSpPr>
        <p:spPr>
          <a:xfrm>
            <a:off x="7071344" y="1600075"/>
            <a:ext cx="0" cy="589800"/>
          </a:xfrm>
          <a:prstGeom prst="straightConnector1">
            <a:avLst/>
          </a:prstGeom>
          <a:noFill/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3"/>
          <p:cNvCxnSpPr>
            <a:stCxn id="52" idx="2"/>
            <a:endCxn id="53" idx="0"/>
          </p:cNvCxnSpPr>
          <p:nvPr/>
        </p:nvCxnSpPr>
        <p:spPr>
          <a:xfrm>
            <a:off x="8115330" y="1609200"/>
            <a:ext cx="0" cy="576300"/>
          </a:xfrm>
          <a:prstGeom prst="straightConnector1">
            <a:avLst/>
          </a:prstGeom>
          <a:noFill/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3"/>
          <p:cNvSpPr/>
          <p:nvPr/>
        </p:nvSpPr>
        <p:spPr>
          <a:xfrm>
            <a:off x="6618789" y="777240"/>
            <a:ext cx="914400" cy="237600"/>
          </a:xfrm>
          <a:prstGeom prst="rect">
            <a:avLst/>
          </a:prstGeom>
          <a:solidFill>
            <a:srgbClr val="2D34FF"/>
          </a:solidFill>
          <a:ln w="9525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609589" y="777240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532120" y="1371600"/>
            <a:ext cx="777240" cy="237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5532120" y="1371600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exec_1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682782" y="1380700"/>
            <a:ext cx="777300" cy="2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682694" y="1362475"/>
            <a:ext cx="7773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exec_2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726680" y="1371600"/>
            <a:ext cx="777240" cy="237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726680" y="1371600"/>
            <a:ext cx="7773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exec_3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577820" y="2185423"/>
            <a:ext cx="685800" cy="2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577833" y="2194648"/>
            <a:ext cx="685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drill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801674" y="2189898"/>
            <a:ext cx="548700" cy="2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796999" y="2189960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res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795265" y="2194560"/>
            <a:ext cx="685800" cy="2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C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772415" y="2185485"/>
            <a:ext cx="685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npv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394960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AIOS.NETWORK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863840" y="56692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NODES: 7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5394960" y="7498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3"/>
          <p:cNvSpPr/>
          <p:nvPr/>
        </p:nvSpPr>
        <p:spPr>
          <a:xfrm>
            <a:off x="5376672" y="2752277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MULTI-AGENT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27325" y="2752277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СИМУЛЯТОРЫ СКВАЖИН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589465" y="2752277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ОПТИМИЗАЦИЯ NPV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365760" y="434340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3"/>
          <p:cNvSpPr/>
          <p:nvPr/>
        </p:nvSpPr>
        <p:spPr>
          <a:xfrm>
            <a:off x="365760" y="4434840"/>
            <a:ext cx="777240" cy="201168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65760" y="443484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01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34440" y="4443984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ru-RU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Мультиагентная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система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оптимального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управления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основе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гидродинамической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модели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8503920" y="4535424"/>
            <a:ext cx="228600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3"/>
          <p:cNvCxnSpPr/>
          <p:nvPr/>
        </p:nvCxnSpPr>
        <p:spPr>
          <a:xfrm>
            <a:off x="365760" y="4654296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3"/>
          <p:cNvSpPr/>
          <p:nvPr/>
        </p:nvSpPr>
        <p:spPr>
          <a:xfrm>
            <a:off x="365760" y="4727448"/>
            <a:ext cx="777240" cy="201168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65760" y="4727448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02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234440" y="4736592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Масштабируемая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м</a:t>
            </a:r>
            <a:r>
              <a:rPr lang="ru-RU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ульти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агентная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система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использованием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нейросетевых</a:t>
            </a:r>
            <a:r>
              <a:rPr lang="en-US" sz="9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моделей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8503920" y="4828032"/>
            <a:ext cx="228600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4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4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4"/>
          <p:cNvCxnSpPr/>
          <p:nvPr/>
        </p:nvCxnSpPr>
        <p:spPr>
          <a:xfrm>
            <a:off x="365760" y="626364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4"/>
          <p:cNvSpPr/>
          <p:nvPr/>
        </p:nvSpPr>
        <p:spPr>
          <a:xfrm>
            <a:off x="566928" y="5303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НАВИГАЦИЯ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65759" y="731520"/>
            <a:ext cx="59391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2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Структура</a:t>
            </a:r>
            <a:r>
              <a:rPr lang="en-US" sz="36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презентации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4"/>
          <p:cNvCxnSpPr/>
          <p:nvPr/>
        </p:nvCxnSpPr>
        <p:spPr>
          <a:xfrm>
            <a:off x="365760" y="150876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4"/>
          <p:cNvSpPr/>
          <p:nvPr/>
        </p:nvSpPr>
        <p:spPr>
          <a:xfrm>
            <a:off x="365760" y="162763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96112" y="16276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Контекст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цели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хакатона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365760" y="1856232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4"/>
          <p:cNvSpPr/>
          <p:nvPr/>
        </p:nvSpPr>
        <p:spPr>
          <a:xfrm>
            <a:off x="365760" y="189280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96112" y="18928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Архитектура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задачи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общий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обзор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365760" y="212140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4"/>
          <p:cNvSpPr/>
          <p:nvPr/>
        </p:nvSpPr>
        <p:spPr>
          <a:xfrm>
            <a:off x="365760" y="215798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96112" y="215798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 1 · Постановка задачи и ограничения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4"/>
          <p:cNvCxnSpPr/>
          <p:nvPr/>
        </p:nvCxnSpPr>
        <p:spPr>
          <a:xfrm>
            <a:off x="365760" y="2386584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4"/>
          <p:cNvSpPr/>
          <p:nvPr/>
        </p:nvSpPr>
        <p:spPr>
          <a:xfrm>
            <a:off x="365760" y="24231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04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96112" y="2423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1 ·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Управляющие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решения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выходные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данные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365760" y="2651760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4"/>
          <p:cNvSpPr/>
          <p:nvPr/>
        </p:nvSpPr>
        <p:spPr>
          <a:xfrm>
            <a:off x="365760" y="268833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05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96112" y="268833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 1 · Процедура валидации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365760" y="2916936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4"/>
          <p:cNvSpPr/>
          <p:nvPr/>
        </p:nvSpPr>
        <p:spPr>
          <a:xfrm>
            <a:off x="365760" y="295351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06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96112" y="295351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 1 · Критерии оценки эффективности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365760" y="3182112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4"/>
          <p:cNvSpPr/>
          <p:nvPr/>
        </p:nvSpPr>
        <p:spPr>
          <a:xfrm>
            <a:off x="365760" y="32186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07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96112" y="32186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 2 · Суррогатные модели и масштаб задачи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63440" y="162763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08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193792" y="16276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 2 · Постановка задачи и оценка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4663440" y="1856232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4"/>
          <p:cNvSpPr/>
          <p:nvPr/>
        </p:nvSpPr>
        <p:spPr>
          <a:xfrm>
            <a:off x="4663440" y="189280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09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193792" y="18928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Сравнительная таблица: Трек 1 vs Трек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>
            <a:off x="4663440" y="212140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4"/>
          <p:cNvSpPr/>
          <p:nvPr/>
        </p:nvSpPr>
        <p:spPr>
          <a:xfrm>
            <a:off x="4663440" y="215798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10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193792" y="215798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Технические требования к решению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4663440" y="2386584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4"/>
          <p:cNvSpPr/>
          <p:nvPr/>
        </p:nvSpPr>
        <p:spPr>
          <a:xfrm>
            <a:off x="4663440" y="24231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11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193792" y="2423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Процедура валидации и критерии оценки жюри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4663440" y="2651760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4"/>
          <p:cNvSpPr/>
          <p:nvPr/>
        </p:nvSpPr>
        <p:spPr>
          <a:xfrm>
            <a:off x="4663440" y="268833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12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193792" y="268833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Формат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п</a:t>
            </a:r>
            <a:r>
              <a:rPr lang="ru-RU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ередачи</a:t>
            </a:r>
            <a:r>
              <a:rPr lang="ru-RU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решения</a:t>
            </a:r>
            <a:r>
              <a:rPr lang="en-US" sz="12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2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воспроизводимость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4663440" y="2916936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4"/>
          <p:cNvSpPr/>
          <p:nvPr/>
        </p:nvSpPr>
        <p:spPr>
          <a:xfrm>
            <a:off x="4663440" y="295351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13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193792" y="295351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Календарный план и контрольные точки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4663440" y="3182112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4"/>
          <p:cNvSpPr/>
          <p:nvPr/>
        </p:nvSpPr>
        <p:spPr>
          <a:xfrm>
            <a:off x="4663440" y="32186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14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193792" y="32186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Чеклист участника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47472" y="631379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и цели хакатона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47472" y="1408619"/>
            <a:ext cx="2651760" cy="1452568"/>
          </a:xfrm>
          <a:prstGeom prst="rect">
            <a:avLst/>
          </a:prstGeom>
          <a:solidFill>
            <a:srgbClr val="2D34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84632" y="1500058"/>
            <a:ext cx="2377440" cy="415019"/>
          </a:xfrm>
          <a:prstGeom prst="rect">
            <a:avLst/>
          </a:prstGeom>
          <a:solidFill>
            <a:srgbClr val="2D3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управления разработкой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" y="1884107"/>
            <a:ext cx="2377440" cy="881916"/>
          </a:xfrm>
          <a:prstGeom prst="rect">
            <a:avLst/>
          </a:prstGeom>
          <a:solidFill>
            <a:srgbClr val="2D3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фондом скважин — многомерная задача оптимизации с сотнями взаимосвязанных параметров, динамическими ограничениями и неопределённостью.</a:t>
            </a:r>
            <a:endParaRPr lang="en-US" sz="1000" dirty="0">
              <a:solidFill>
                <a:srgbClr val="D1D1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1408619"/>
            <a:ext cx="2651760" cy="1452568"/>
          </a:xfrm>
          <a:prstGeom prst="rect">
            <a:avLst/>
          </a:prstGeom>
          <a:solidFill>
            <a:srgbClr val="2D34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319272" y="1500058"/>
            <a:ext cx="2377440" cy="415019"/>
          </a:xfrm>
          <a:prstGeom prst="rect">
            <a:avLst/>
          </a:prstGeom>
          <a:solidFill>
            <a:srgbClr val="2D3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МАС (мультиагентных систем)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19272" y="1884107"/>
            <a:ext cx="2377440" cy="881916"/>
          </a:xfrm>
          <a:prstGeom prst="rect">
            <a:avLst/>
          </a:prstGeom>
          <a:solidFill>
            <a:srgbClr val="2D3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подходы не масштабируются. МАС позволяют декомпозировать задачу, распределить принятие решений и адаптироваться в реальном времени.</a:t>
            </a:r>
            <a:endParaRPr lang="en-US" sz="1000" dirty="0">
              <a:solidFill>
                <a:srgbClr val="D1D1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16752" y="1408619"/>
            <a:ext cx="2651760" cy="1452568"/>
          </a:xfrm>
          <a:prstGeom prst="rect">
            <a:avLst/>
          </a:prstGeom>
          <a:solidFill>
            <a:srgbClr val="2D34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153912" y="1500058"/>
            <a:ext cx="2377440" cy="415019"/>
          </a:xfrm>
          <a:prstGeom prst="rect">
            <a:avLst/>
          </a:prstGeom>
          <a:solidFill>
            <a:srgbClr val="2D3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цель — NPV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53912" y="1884107"/>
            <a:ext cx="2377440" cy="881916"/>
          </a:xfrm>
          <a:prstGeom prst="rect">
            <a:avLst/>
          </a:prstGeom>
          <a:solidFill>
            <a:srgbClr val="2D34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дисконтированный доход (NPV) — универсальная финансовая метрика. Задача: максимизация NPV при соблюдении технологических ограничений.</a:t>
            </a:r>
            <a:endParaRPr lang="en-US" sz="1000" dirty="0">
              <a:solidFill>
                <a:srgbClr val="D1D1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7472" y="3150072"/>
            <a:ext cx="8737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хакатона AIOS</a:t>
            </a:r>
            <a:endParaRPr lang="en-US" sz="2400" dirty="0"/>
          </a:p>
        </p:txBody>
      </p:sp>
      <p:cxnSp>
        <p:nvCxnSpPr>
          <p:cNvPr id="32" name="Google Shape;133;p5"/>
          <p:cNvCxnSpPr/>
          <p:nvPr/>
        </p:nvCxnSpPr>
        <p:spPr>
          <a:xfrm>
            <a:off x="365760" y="347177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134;p5"/>
          <p:cNvSpPr/>
          <p:nvPr/>
        </p:nvSpPr>
        <p:spPr>
          <a:xfrm>
            <a:off x="365760" y="72857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135;p5"/>
          <p:cNvCxnSpPr/>
          <p:nvPr/>
        </p:nvCxnSpPr>
        <p:spPr>
          <a:xfrm>
            <a:off x="365760" y="589493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136;p5"/>
          <p:cNvSpPr/>
          <p:nvPr/>
        </p:nvSpPr>
        <p:spPr>
          <a:xfrm>
            <a:off x="566928" y="493481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ЦЕННОСТЬ УЧАСТИЯ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51;p7"/>
          <p:cNvSpPr/>
          <p:nvPr/>
        </p:nvSpPr>
        <p:spPr>
          <a:xfrm>
            <a:off x="347472" y="3547615"/>
            <a:ext cx="92490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52;p7"/>
          <p:cNvSpPr/>
          <p:nvPr/>
        </p:nvSpPr>
        <p:spPr>
          <a:xfrm>
            <a:off x="850392" y="3547615"/>
            <a:ext cx="792784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Выявить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эффективные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подходы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управлению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разработкой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месторождения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помощью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МАС,</a:t>
            </a:r>
            <a:r>
              <a:rPr lang="ru-RU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RL, </a:t>
            </a:r>
            <a:r>
              <a:rPr lang="ru-RU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суррогатных моделей</a:t>
            </a:r>
            <a:endParaRPr lang="en-US" sz="1200" dirty="0"/>
          </a:p>
        </p:txBody>
      </p:sp>
      <p:cxnSp>
        <p:nvCxnSpPr>
          <p:cNvPr id="39" name="Google Shape;253;p7"/>
          <p:cNvCxnSpPr/>
          <p:nvPr/>
        </p:nvCxnSpPr>
        <p:spPr>
          <a:xfrm>
            <a:off x="347473" y="3840223"/>
            <a:ext cx="7954146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254;p7"/>
          <p:cNvSpPr/>
          <p:nvPr/>
        </p:nvSpPr>
        <p:spPr>
          <a:xfrm>
            <a:off x="347472" y="3895087"/>
            <a:ext cx="92490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255;p7"/>
          <p:cNvSpPr/>
          <p:nvPr/>
        </p:nvSpPr>
        <p:spPr>
          <a:xfrm>
            <a:off x="850393" y="3895087"/>
            <a:ext cx="69367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Продемонстрировать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NPV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сравнению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базовым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сценарием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скважинами</a:t>
            </a:r>
            <a:endParaRPr lang="en-US" sz="1200" dirty="0"/>
          </a:p>
        </p:txBody>
      </p:sp>
      <p:cxnSp>
        <p:nvCxnSpPr>
          <p:cNvPr id="42" name="Google Shape;256;p7"/>
          <p:cNvCxnSpPr/>
          <p:nvPr/>
        </p:nvCxnSpPr>
        <p:spPr>
          <a:xfrm>
            <a:off x="347473" y="4187695"/>
            <a:ext cx="7954146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257;p7"/>
          <p:cNvSpPr/>
          <p:nvPr/>
        </p:nvSpPr>
        <p:spPr>
          <a:xfrm>
            <a:off x="347472" y="4242559"/>
            <a:ext cx="92490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11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258;p7"/>
          <p:cNvSpPr/>
          <p:nvPr/>
        </p:nvSpPr>
        <p:spPr>
          <a:xfrm>
            <a:off x="850393" y="4242559"/>
            <a:ext cx="69367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решений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масштабированию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200" dirty="0"/>
          </a:p>
        </p:txBody>
      </p:sp>
      <p:cxnSp>
        <p:nvCxnSpPr>
          <p:cNvPr id="45" name="Google Shape;259;p7"/>
          <p:cNvCxnSpPr/>
          <p:nvPr/>
        </p:nvCxnSpPr>
        <p:spPr>
          <a:xfrm>
            <a:off x="347473" y="4535167"/>
            <a:ext cx="7954146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9684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6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p6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6"/>
          <p:cNvCxnSpPr/>
          <p:nvPr/>
        </p:nvCxnSpPr>
        <p:spPr>
          <a:xfrm>
            <a:off x="365760" y="562355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Google Shape;175;p6"/>
          <p:cNvSpPr/>
          <p:nvPr/>
        </p:nvSpPr>
        <p:spPr>
          <a:xfrm>
            <a:off x="566928" y="466343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АРХИТЕКТУРА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65760" y="4917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200"/>
              <a:buFont typeface="Calibri"/>
              <a:buNone/>
            </a:pPr>
            <a:r>
              <a:rPr lang="en-US" sz="3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Цикл</a:t>
            </a:r>
            <a:r>
              <a:rPr lang="en-US" sz="3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3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функционирования</a:t>
            </a:r>
            <a:r>
              <a:rPr lang="en-US" sz="3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МАС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5760" y="1150076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оценка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состояния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выработка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решения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управляющее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воздействие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повторная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оценка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6"/>
          <p:cNvCxnSpPr/>
          <p:nvPr/>
        </p:nvCxnSpPr>
        <p:spPr>
          <a:xfrm>
            <a:off x="365760" y="1460972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6"/>
          <p:cNvSpPr/>
          <p:nvPr/>
        </p:nvSpPr>
        <p:spPr>
          <a:xfrm>
            <a:off x="365760" y="1588988"/>
            <a:ext cx="1417320" cy="658368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80" name="Google Shape;180;p6"/>
          <p:cNvSpPr/>
          <p:nvPr/>
        </p:nvSpPr>
        <p:spPr>
          <a:xfrm>
            <a:off x="438912" y="1680428"/>
            <a:ext cx="12527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0A0A0A"/>
              </a:buClr>
              <a:buSzPts val="900"/>
            </a:pPr>
            <a:r>
              <a:rPr lang="ru-RU" sz="1100" b="1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ГГДМ</a:t>
            </a:r>
          </a:p>
        </p:txBody>
      </p:sp>
      <p:sp>
        <p:nvSpPr>
          <p:cNvPr id="181" name="Google Shape;181;p6"/>
          <p:cNvSpPr/>
          <p:nvPr/>
        </p:nvSpPr>
        <p:spPr>
          <a:xfrm>
            <a:off x="438912" y="1927315"/>
            <a:ext cx="127101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Начальное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состояние</a:t>
            </a:r>
            <a:r>
              <a:rPr lang="ru-RU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месторождения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856232" y="1845020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0"/>
              </a:buClr>
              <a:buSzPts val="800"/>
              <a:buFont typeface="Calibri"/>
              <a:buNone/>
            </a:pPr>
            <a:r>
              <a:rPr lang="en-US" sz="1050" b="0" i="0" u="none" strike="noStrike" cap="none">
                <a:solidFill>
                  <a:srgbClr val="C8C8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993392" y="1588988"/>
            <a:ext cx="1417320" cy="658368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85" name="Google Shape;185;p6"/>
          <p:cNvSpPr/>
          <p:nvPr/>
        </p:nvSpPr>
        <p:spPr>
          <a:xfrm>
            <a:off x="2084832" y="168042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Мониторинг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066544" y="1927315"/>
            <a:ext cx="127101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Анализ KPI,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ограничений, дебитов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456432" y="1845020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0"/>
              </a:buClr>
              <a:buSzPts val="800"/>
              <a:buFont typeface="Calibri"/>
              <a:buNone/>
            </a:pPr>
            <a:r>
              <a:rPr lang="en-US" sz="1050" b="0" i="0" u="none" strike="noStrike" cap="none">
                <a:solidFill>
                  <a:srgbClr val="C8C8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593592" y="1588988"/>
            <a:ext cx="1417320" cy="658368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90" name="Google Shape;190;p6"/>
          <p:cNvSpPr/>
          <p:nvPr/>
        </p:nvSpPr>
        <p:spPr>
          <a:xfrm>
            <a:off x="3593592" y="1579844"/>
            <a:ext cx="1417320" cy="54864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91" name="Google Shape;191;p6"/>
          <p:cNvSpPr/>
          <p:nvPr/>
        </p:nvSpPr>
        <p:spPr>
          <a:xfrm>
            <a:off x="3685032" y="168042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900"/>
              <a:buFont typeface="Calibri"/>
              <a:buNone/>
            </a:pPr>
            <a:r>
              <a:rPr lang="en-US" sz="1100" b="1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Оптимизаци</a:t>
            </a:r>
            <a:r>
              <a:rPr lang="ru-RU" sz="11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я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66744" y="1927315"/>
            <a:ext cx="127101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Формирование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управляющих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решений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056632" y="1845020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0"/>
              </a:buClr>
              <a:buSzPts val="800"/>
              <a:buFont typeface="Calibri"/>
              <a:buNone/>
            </a:pPr>
            <a:r>
              <a:rPr lang="en-US" sz="1050" b="0" i="0" u="none" strike="noStrike" cap="none">
                <a:solidFill>
                  <a:srgbClr val="C8C8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193792" y="1588988"/>
            <a:ext cx="1417320" cy="658368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96" name="Google Shape;196;p6"/>
          <p:cNvSpPr/>
          <p:nvPr/>
        </p:nvSpPr>
        <p:spPr>
          <a:xfrm>
            <a:off x="5285232" y="168042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ru-RU" sz="11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Оркестрация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266944" y="1927315"/>
            <a:ext cx="127101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Согласование</a:t>
            </a:r>
            <a:r>
              <a:rPr lang="ru-RU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решений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между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агентами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656832" y="1845020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0"/>
              </a:buClr>
              <a:buSzPts val="800"/>
              <a:buFont typeface="Calibri"/>
              <a:buNone/>
            </a:pPr>
            <a:r>
              <a:rPr lang="en-US" sz="1050" b="0" i="0" u="none" strike="noStrike" cap="none">
                <a:solidFill>
                  <a:srgbClr val="C8C8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793992" y="1588988"/>
            <a:ext cx="1417320" cy="658368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01" name="Google Shape;201;p6"/>
          <p:cNvSpPr/>
          <p:nvPr/>
        </p:nvSpPr>
        <p:spPr>
          <a:xfrm>
            <a:off x="6885432" y="168042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wells_schedule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867144" y="1927315"/>
            <a:ext cx="127101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Управляющий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7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график</a:t>
            </a:r>
            <a:r>
              <a:rPr lang="en-US" sz="1000" b="0" i="0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скважин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6"/>
          <p:cNvCxnSpPr/>
          <p:nvPr/>
        </p:nvCxnSpPr>
        <p:spPr>
          <a:xfrm>
            <a:off x="365760" y="2338796"/>
            <a:ext cx="8092440" cy="0"/>
          </a:xfrm>
          <a:prstGeom prst="straightConnector1">
            <a:avLst/>
          </a:prstGeom>
          <a:noFill/>
          <a:ln w="12700" cap="flat" cmpd="sng">
            <a:solidFill>
              <a:srgbClr val="E8E9F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04" name="Google Shape;204;p6"/>
          <p:cNvSpPr/>
          <p:nvPr/>
        </p:nvSpPr>
        <p:spPr>
          <a:xfrm>
            <a:off x="365760" y="2393660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1050" b="0" i="1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← </a:t>
            </a:r>
            <a:r>
              <a:rPr lang="ru-RU" sz="1050" i="1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Р</a:t>
            </a:r>
            <a:r>
              <a:rPr lang="en-US" sz="1050" b="0" i="1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езультаты</a:t>
            </a:r>
            <a:r>
              <a:rPr lang="en-US" sz="1050" b="0" i="1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1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расчёта</a:t>
            </a:r>
            <a:r>
              <a:rPr lang="en-US" sz="1050" b="0" i="1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ГГДМ </a:t>
            </a:r>
            <a:r>
              <a:rPr lang="en-US" sz="1050" b="0" i="1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используются</a:t>
            </a:r>
            <a:r>
              <a:rPr lang="en-US" sz="1050" b="0" i="1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1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050" b="0" i="1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1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следующем</a:t>
            </a:r>
            <a:r>
              <a:rPr lang="en-US" sz="1050" b="0" i="1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1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шаге</a:t>
            </a:r>
            <a:r>
              <a:rPr lang="en-US" sz="1050" b="0" i="1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1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управления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6"/>
          <p:cNvCxnSpPr/>
          <p:nvPr/>
        </p:nvCxnSpPr>
        <p:spPr>
          <a:xfrm>
            <a:off x="365760" y="266798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6"/>
          <p:cNvSpPr/>
          <p:nvPr/>
        </p:nvSpPr>
        <p:spPr>
          <a:xfrm>
            <a:off x="365760" y="27594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10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ВХОДНЫЕ ДАННЫЕ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84048" y="30154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Гидродинамическая модель (ГГДМ)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6"/>
          <p:cNvCxnSpPr/>
          <p:nvPr/>
        </p:nvCxnSpPr>
        <p:spPr>
          <a:xfrm>
            <a:off x="365760" y="3308060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6"/>
          <p:cNvSpPr/>
          <p:nvPr/>
        </p:nvSpPr>
        <p:spPr>
          <a:xfrm>
            <a:off x="384048" y="33629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Начальное состояние месторождения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6"/>
          <p:cNvCxnSpPr/>
          <p:nvPr/>
        </p:nvCxnSpPr>
        <p:spPr>
          <a:xfrm>
            <a:off x="365760" y="3655532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6"/>
          <p:cNvSpPr/>
          <p:nvPr/>
        </p:nvSpPr>
        <p:spPr>
          <a:xfrm>
            <a:off x="384048" y="37103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Сценарий</a:t>
            </a:r>
            <a:r>
              <a:rPr lang="en-US" sz="11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возмущений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6"/>
          <p:cNvCxnSpPr/>
          <p:nvPr/>
        </p:nvCxnSpPr>
        <p:spPr>
          <a:xfrm>
            <a:off x="365760" y="4003004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6"/>
          <p:cNvSpPr/>
          <p:nvPr/>
        </p:nvSpPr>
        <p:spPr>
          <a:xfrm>
            <a:off x="384048" y="405786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Технологические</a:t>
            </a:r>
            <a:r>
              <a:rPr lang="en-US" sz="11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ограничения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6"/>
          <p:cNvCxnSpPr/>
          <p:nvPr/>
        </p:nvCxnSpPr>
        <p:spPr>
          <a:xfrm>
            <a:off x="365760" y="4350476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6"/>
          <p:cNvSpPr/>
          <p:nvPr/>
        </p:nvSpPr>
        <p:spPr>
          <a:xfrm>
            <a:off x="384048" y="44053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A0A0A"/>
              </a:buClr>
              <a:buSzPts val="900"/>
            </a:pPr>
            <a:r>
              <a:rPr lang="ru-RU" sz="1100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Экономические параметры (цена нефти, CAPEX, OPEX)</a:t>
            </a:r>
          </a:p>
        </p:txBody>
      </p:sp>
      <p:cxnSp>
        <p:nvCxnSpPr>
          <p:cNvPr id="216" name="Google Shape;216;p6"/>
          <p:cNvCxnSpPr/>
          <p:nvPr/>
        </p:nvCxnSpPr>
        <p:spPr>
          <a:xfrm>
            <a:off x="3200400" y="2759420"/>
            <a:ext cx="0" cy="201168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6"/>
          <p:cNvSpPr/>
          <p:nvPr/>
        </p:nvSpPr>
        <p:spPr>
          <a:xfrm>
            <a:off x="3291840" y="27594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50"/>
              <a:buFont typeface="Calibri"/>
              <a:buNone/>
            </a:pPr>
            <a:r>
              <a:rPr lang="en-US" sz="10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МАС · ЯДРО РЕШЕНИЯ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310128" y="30154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LLM / мультимодальная модель в ядре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6"/>
          <p:cNvCxnSpPr/>
          <p:nvPr/>
        </p:nvCxnSpPr>
        <p:spPr>
          <a:xfrm>
            <a:off x="3291840" y="3308060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6"/>
          <p:cNvSpPr/>
          <p:nvPr/>
        </p:nvSpPr>
        <p:spPr>
          <a:xfrm>
            <a:off x="3310128" y="33629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A0A0A"/>
              </a:buClr>
              <a:buSzPts val="900"/>
            </a:pPr>
            <a:r>
              <a:rPr lang="ru-RU" sz="1100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Агенты, осуществляющие мониторинг и оптимизацию</a:t>
            </a:r>
          </a:p>
        </p:txBody>
      </p:sp>
      <p:cxnSp>
        <p:nvCxnSpPr>
          <p:cNvPr id="221" name="Google Shape;221;p6"/>
          <p:cNvCxnSpPr/>
          <p:nvPr/>
        </p:nvCxnSpPr>
        <p:spPr>
          <a:xfrm>
            <a:off x="3291840" y="3655532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6"/>
          <p:cNvSpPr/>
          <p:nvPr/>
        </p:nvSpPr>
        <p:spPr>
          <a:xfrm>
            <a:off x="3310128" y="37103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Итеративный цикл принятия решений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6"/>
          <p:cNvCxnSpPr/>
          <p:nvPr/>
        </p:nvCxnSpPr>
        <p:spPr>
          <a:xfrm>
            <a:off x="3291840" y="4003004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6"/>
          <p:cNvSpPr/>
          <p:nvPr/>
        </p:nvSpPr>
        <p:spPr>
          <a:xfrm>
            <a:off x="3310128" y="405786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 1: прямое обращение к ГГДМ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6"/>
          <p:cNvCxnSpPr/>
          <p:nvPr/>
        </p:nvCxnSpPr>
        <p:spPr>
          <a:xfrm>
            <a:off x="3291840" y="4350476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6"/>
          <p:cNvSpPr/>
          <p:nvPr/>
        </p:nvSpPr>
        <p:spPr>
          <a:xfrm>
            <a:off x="3310128" y="44053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Трек</a:t>
            </a:r>
            <a:r>
              <a:rPr lang="en-US" sz="11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2: </a:t>
            </a: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суррогатная</a:t>
            </a:r>
            <a:r>
              <a:rPr lang="en-US" sz="11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нейросетевая</a:t>
            </a:r>
            <a:r>
              <a:rPr lang="en-US" sz="11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модель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6126480" y="2759420"/>
            <a:ext cx="0" cy="201168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6"/>
          <p:cNvSpPr/>
          <p:nvPr/>
        </p:nvSpPr>
        <p:spPr>
          <a:xfrm>
            <a:off x="6217920" y="27594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10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ВЫХОДНЫЕ ДАННЫЕ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236208" y="30154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wells_schedule</a:t>
            </a:r>
            <a:r>
              <a:rPr lang="en-US" sz="11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управляющий</a:t>
            </a:r>
            <a:r>
              <a:rPr lang="en-US" sz="11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график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6"/>
          <p:cNvCxnSpPr/>
          <p:nvPr/>
        </p:nvCxnSpPr>
        <p:spPr>
          <a:xfrm>
            <a:off x="6217920" y="3308060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p6"/>
          <p:cNvSpPr/>
          <p:nvPr/>
        </p:nvSpPr>
        <p:spPr>
          <a:xfrm>
            <a:off x="6236208" y="33629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NPV (чистый дисконтированный доход)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6"/>
          <p:cNvCxnSpPr/>
          <p:nvPr/>
        </p:nvCxnSpPr>
        <p:spPr>
          <a:xfrm>
            <a:off x="6217920" y="3655532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6"/>
          <p:cNvSpPr/>
          <p:nvPr/>
        </p:nvSpPr>
        <p:spPr>
          <a:xfrm>
            <a:off x="6236208" y="37103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A0A0A"/>
              </a:buClr>
              <a:buSzPts val="900"/>
            </a:pPr>
            <a:r>
              <a:rPr lang="ru-RU" sz="1100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Метрики качества суррогатных моделей (трек 2)</a:t>
            </a:r>
          </a:p>
        </p:txBody>
      </p:sp>
      <p:cxnSp>
        <p:nvCxnSpPr>
          <p:cNvPr id="234" name="Google Shape;234;p6"/>
          <p:cNvCxnSpPr/>
          <p:nvPr/>
        </p:nvCxnSpPr>
        <p:spPr>
          <a:xfrm>
            <a:off x="6236208" y="4056685"/>
            <a:ext cx="27432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7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4" name="Google Shape;244;p7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46" name="Google Shape;246;p7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65750" y="808743"/>
            <a:ext cx="841249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Мультиагентная</a:t>
            </a:r>
            <a:r>
              <a:rPr lang="en-US" sz="2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оптимизация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2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гидродинамической</a:t>
            </a:r>
            <a:r>
              <a:rPr lang="en-US" sz="2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модели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65750" y="1597942"/>
            <a:ext cx="628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Участники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разрабатывают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МАС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управления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разработкой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месторождения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упрощённой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ГГДМ (~46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скважин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) с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учётом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геологических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особенностей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разломы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). МАС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формирует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согласованные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управляющие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решения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условиях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динамических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ru-RU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7"/>
          <p:cNvCxnSpPr/>
          <p:nvPr/>
        </p:nvCxnSpPr>
        <p:spPr>
          <a:xfrm>
            <a:off x="365760" y="2261235"/>
            <a:ext cx="84126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" name="Google Shape;250;p7"/>
          <p:cNvSpPr/>
          <p:nvPr/>
        </p:nvSpPr>
        <p:spPr>
          <a:xfrm>
            <a:off x="365760" y="23042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НА КАЖДОМ ШАГЕ МОДЕЛИРОВАНИЯ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65760" y="25786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68680" y="257860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Анализировать текущее состояние месторождения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7"/>
          <p:cNvCxnSpPr/>
          <p:nvPr/>
        </p:nvCxnSpPr>
        <p:spPr>
          <a:xfrm>
            <a:off x="365760" y="2871216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4" name="Google Shape;254;p7"/>
          <p:cNvSpPr/>
          <p:nvPr/>
        </p:nvSpPr>
        <p:spPr>
          <a:xfrm>
            <a:off x="365760" y="2926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868680" y="29260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Учитывать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заданные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ограничения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поступающие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возмущения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7"/>
          <p:cNvCxnSpPr/>
          <p:nvPr/>
        </p:nvCxnSpPr>
        <p:spPr>
          <a:xfrm>
            <a:off x="365760" y="321868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" name="Google Shape;257;p7"/>
          <p:cNvSpPr/>
          <p:nvPr/>
        </p:nvSpPr>
        <p:spPr>
          <a:xfrm>
            <a:off x="365760" y="32735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868680" y="327355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Формировать оптимальные режимы работы каждой скважины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>
            <a:off x="365760" y="3566160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7"/>
          <p:cNvSpPr/>
          <p:nvPr/>
        </p:nvSpPr>
        <p:spPr>
          <a:xfrm>
            <a:off x="365760" y="362102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04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868680" y="362102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Переводить скважины из добычи в закачку (ППД) при необходимости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7"/>
          <p:cNvCxnSpPr/>
          <p:nvPr/>
        </p:nvCxnSpPr>
        <p:spPr>
          <a:xfrm>
            <a:off x="365760" y="3913632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7"/>
          <p:cNvSpPr/>
          <p:nvPr/>
        </p:nvSpPr>
        <p:spPr>
          <a:xfrm>
            <a:off x="365760" y="396849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05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868680" y="396849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Обеспечивать достижение глобальной целевой функции — NPV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7"/>
          <p:cNvCxnSpPr/>
          <p:nvPr/>
        </p:nvCxnSpPr>
        <p:spPr>
          <a:xfrm>
            <a:off x="4526280" y="2212848"/>
            <a:ext cx="0" cy="274320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7"/>
          <p:cNvSpPr/>
          <p:nvPr/>
        </p:nvSpPr>
        <p:spPr>
          <a:xfrm>
            <a:off x="4709160" y="23042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ЦЕЛЕВАЯ ФУНКЦИЯ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709160" y="2578608"/>
            <a:ext cx="4069080" cy="960120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68" name="Google Shape;268;p7"/>
          <p:cNvSpPr/>
          <p:nvPr/>
        </p:nvSpPr>
        <p:spPr>
          <a:xfrm>
            <a:off x="4892040" y="2743200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Максимизация NPV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892040" y="3145536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FF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AAAAFF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1000" b="0" i="0" u="none" strike="noStrike" cap="none" dirty="0">
                <a:solidFill>
                  <a:srgbClr val="AAAA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AAAAFF"/>
                </a:solidFill>
                <a:latin typeface="Calibri"/>
                <a:ea typeface="Calibri"/>
                <a:cs typeface="Calibri"/>
                <a:sym typeface="Calibri"/>
              </a:rPr>
              <a:t>фиксированных</a:t>
            </a:r>
            <a:r>
              <a:rPr lang="en-US" sz="1000" b="0" i="0" u="none" strike="noStrike" cap="none" dirty="0">
                <a:solidFill>
                  <a:srgbClr val="AAAA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AAAAFF"/>
                </a:solidFill>
                <a:latin typeface="Calibri"/>
                <a:ea typeface="Calibri"/>
                <a:cs typeface="Calibri"/>
                <a:sym typeface="Calibri"/>
              </a:rPr>
              <a:t>экономических</a:t>
            </a:r>
            <a:r>
              <a:rPr lang="en-US" sz="1000" b="0" i="0" u="none" strike="noStrike" cap="none" dirty="0">
                <a:solidFill>
                  <a:srgbClr val="AAAA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AAAAFF"/>
                </a:solidFill>
                <a:latin typeface="Calibri"/>
                <a:ea typeface="Calibri"/>
                <a:cs typeface="Calibri"/>
                <a:sym typeface="Calibri"/>
              </a:rPr>
              <a:t>параметрах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7"/>
          <p:cNvCxnSpPr/>
          <p:nvPr/>
        </p:nvCxnSpPr>
        <p:spPr>
          <a:xfrm>
            <a:off x="4709160" y="3657600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7"/>
          <p:cNvSpPr/>
          <p:nvPr/>
        </p:nvSpPr>
        <p:spPr>
          <a:xfrm>
            <a:off x="4709160" y="37490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ОЖИДАЕМЫЙ РЕЗУЛЬТАТ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709160" y="40233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→  МАС с веб-платформой (UI) и LLM-агентами в ядре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709160" y="433425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Файл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wells_schedule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расчётное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значение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NPV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709160" y="464515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→  Демонстрация работы и описание логики принятия решений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8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8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84" name="Google Shape;284;p8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65760" y="71323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Типы</a:t>
            </a:r>
            <a:r>
              <a:rPr lang="en-US" sz="2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входных</a:t>
            </a:r>
            <a:r>
              <a:rPr lang="en-US" sz="2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воздействий</a:t>
            </a:r>
            <a:r>
              <a:rPr lang="en-US" sz="28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65760" y="1280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МАС должна динамически обрабатывать любые комбинации следующих возмущений: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365760" y="1591056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8"/>
          <p:cNvSpPr/>
          <p:nvPr/>
        </p:nvSpPr>
        <p:spPr>
          <a:xfrm>
            <a:off x="365750" y="1700775"/>
            <a:ext cx="2651700" cy="10050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89" name="Google Shape;289;p8"/>
          <p:cNvSpPr/>
          <p:nvPr/>
        </p:nvSpPr>
        <p:spPr>
          <a:xfrm>
            <a:off x="512064" y="1810512"/>
            <a:ext cx="411480" cy="1828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79980" y="2011680"/>
            <a:ext cx="2359200" cy="237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Остановка скважин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67117" y="2229600"/>
            <a:ext cx="2446200" cy="38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Ремонт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(КРС/ПРС)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или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авария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 МАС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перераспределяет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нагрузку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без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нарушения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ограничений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154670" y="1700775"/>
            <a:ext cx="2651700" cy="100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93" name="Google Shape;293;p8"/>
          <p:cNvSpPr/>
          <p:nvPr/>
        </p:nvSpPr>
        <p:spPr>
          <a:xfrm>
            <a:off x="3300984" y="181051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300984" y="2011680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Ограничения добычи (ОПЕК)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295216" y="2229600"/>
            <a:ext cx="2446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Внешние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квоты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 МАС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соблюдает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квоту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оптимально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распределив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дебиты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фонду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943590" y="1700775"/>
            <a:ext cx="2651700" cy="10050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97" name="Google Shape;297;p8"/>
          <p:cNvSpPr/>
          <p:nvPr/>
        </p:nvSpPr>
        <p:spPr>
          <a:xfrm>
            <a:off x="6089904" y="1810512"/>
            <a:ext cx="411480" cy="1828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089904" y="2011680"/>
            <a:ext cx="2359152" cy="23774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Ограничения по обводненности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091731" y="2229600"/>
            <a:ext cx="2446200" cy="38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Экономический предел. МАС выбирает скважины с минимальной обводненностью.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365750" y="2780283"/>
            <a:ext cx="2651700" cy="100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01" name="Google Shape;301;p8"/>
          <p:cNvSpPr/>
          <p:nvPr/>
        </p:nvSpPr>
        <p:spPr>
          <a:xfrm>
            <a:off x="512064" y="2871216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04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79980" y="3072384"/>
            <a:ext cx="2359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Ограничения по закачке (ППД)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67117" y="3290312"/>
            <a:ext cx="2446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Балансировка объёмов закачки с режимами добычи для поддержания пластового давления.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154670" y="2780283"/>
            <a:ext cx="2651700" cy="10050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05" name="Google Shape;305;p8"/>
          <p:cNvSpPr/>
          <p:nvPr/>
        </p:nvSpPr>
        <p:spPr>
          <a:xfrm>
            <a:off x="3300984" y="2871216"/>
            <a:ext cx="411480" cy="1828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05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300984" y="3072384"/>
            <a:ext cx="2359152" cy="23774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Инфраструктурные ограничения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295216" y="3290312"/>
            <a:ext cx="2446200" cy="38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Трубопроводы, насосные станции, нефтесборные ёмкости.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943590" y="2780283"/>
            <a:ext cx="2651700" cy="100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09" name="Google Shape;309;p8"/>
          <p:cNvSpPr/>
          <p:nvPr/>
        </p:nvSpPr>
        <p:spPr>
          <a:xfrm>
            <a:off x="6089904" y="2871216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06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089904" y="3072384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Изменение техпараметров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091731" y="3290312"/>
            <a:ext cx="2446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Забойные давления, штуцерные режимы, давления на устье, корректировка модели.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65750" y="3859791"/>
            <a:ext cx="2651700" cy="10050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13" name="Google Shape;313;p8"/>
          <p:cNvSpPr/>
          <p:nvPr/>
        </p:nvSpPr>
        <p:spPr>
          <a:xfrm>
            <a:off x="512064" y="3931920"/>
            <a:ext cx="411480" cy="1828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07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79980" y="4133088"/>
            <a:ext cx="2359200" cy="237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Ввод новых скважин (плановый)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67117" y="4351025"/>
            <a:ext cx="2446200" cy="38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МАС интегрирует новые скважины в план без деградации решения.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154670" y="3859791"/>
            <a:ext cx="2651700" cy="100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17" name="Google Shape;317;p8"/>
          <p:cNvSpPr/>
          <p:nvPr/>
        </p:nvSpPr>
        <p:spPr>
          <a:xfrm>
            <a:off x="3300984" y="39319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08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3300984" y="4133088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Добавление скважин (бурение)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3295216" y="4351025"/>
            <a:ext cx="2446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Включение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скважин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план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момента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запуска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оценкой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целесообразности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943590" y="3859791"/>
            <a:ext cx="2651700" cy="10050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21" name="Google Shape;321;p8"/>
          <p:cNvSpPr/>
          <p:nvPr/>
        </p:nvSpPr>
        <p:spPr>
          <a:xfrm>
            <a:off x="6089904" y="3931920"/>
            <a:ext cx="411480" cy="1828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09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6089904" y="4133088"/>
            <a:ext cx="2359152" cy="23774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Изменение конфигурации фонда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091731" y="4351025"/>
            <a:ext cx="2446200" cy="38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Перевод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добывающих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нагнетательные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изменение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зон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дренирования</a:t>
            </a:r>
            <a:r>
              <a:rPr lang="en-US" sz="10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Google Shape;330;p9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1" name="Google Shape;331;p9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33" name="Google Shape;333;p9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65760" y="713232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Calibri"/>
              <a:buNone/>
            </a:pPr>
            <a:r>
              <a:rPr lang="en-US" sz="28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Управляющие решения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Calibri"/>
              <a:buNone/>
            </a:pPr>
            <a:r>
              <a:rPr lang="en-US" sz="28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 выходные данные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9"/>
          <p:cNvCxnSpPr/>
          <p:nvPr/>
        </p:nvCxnSpPr>
        <p:spPr>
          <a:xfrm>
            <a:off x="365760" y="1609344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" name="Google Shape;336;p9"/>
          <p:cNvSpPr/>
          <p:nvPr/>
        </p:nvSpPr>
        <p:spPr>
          <a:xfrm>
            <a:off x="365760" y="171907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ТРЕБОВАНИЯ К РЕШЕНИЯМ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65760" y="199339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Последовательность воздействий по шагам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65760" y="223113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Решение формируется как timeline управляющих команд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9"/>
          <p:cNvCxnSpPr/>
          <p:nvPr/>
        </p:nvCxnSpPr>
        <p:spPr>
          <a:xfrm>
            <a:off x="365760" y="2450592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0" name="Google Shape;340;p9"/>
          <p:cNvSpPr/>
          <p:nvPr/>
        </p:nvSpPr>
        <p:spPr>
          <a:xfrm>
            <a:off x="365760" y="2523744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Дебит жидкости для каждой скважины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365760" y="276148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Объём добычи или ограничение на дебит на каждом шаге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9"/>
          <p:cNvCxnSpPr/>
          <p:nvPr/>
        </p:nvCxnSpPr>
        <p:spPr>
          <a:xfrm>
            <a:off x="365760" y="2980944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3" name="Google Shape;343;p9"/>
          <p:cNvSpPr/>
          <p:nvPr/>
        </p:nvSpPr>
        <p:spPr>
          <a:xfrm>
            <a:off x="365760" y="305409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Режим</a:t>
            </a:r>
            <a:r>
              <a:rPr lang="en-US" sz="105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эксплуатации</a:t>
            </a:r>
            <a:r>
              <a:rPr lang="ru-RU" sz="105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скважины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365760" y="329184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ru-RU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Нагнетательная/добывающая/с ограничениями….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9"/>
          <p:cNvCxnSpPr/>
          <p:nvPr/>
        </p:nvCxnSpPr>
        <p:spPr>
          <a:xfrm>
            <a:off x="365760" y="3511296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9"/>
          <p:cNvSpPr/>
          <p:nvPr/>
        </p:nvSpPr>
        <p:spPr>
          <a:xfrm>
            <a:off x="365760" y="3584448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Режим закачки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65760" y="382219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Объём закачки для нагнетательных скважин (ППД)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9"/>
          <p:cNvCxnSpPr/>
          <p:nvPr/>
        </p:nvCxnSpPr>
        <p:spPr>
          <a:xfrm>
            <a:off x="365760" y="404164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9"/>
          <p:cNvSpPr/>
          <p:nvPr/>
        </p:nvSpPr>
        <p:spPr>
          <a:xfrm>
            <a:off x="365760" y="411480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Согласованность</a:t>
            </a:r>
            <a:r>
              <a:rPr lang="en-US" sz="105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05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корректность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65760" y="435254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ru-RU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ет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физически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невозможных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режимов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9"/>
          <p:cNvCxnSpPr/>
          <p:nvPr/>
        </p:nvCxnSpPr>
        <p:spPr>
          <a:xfrm>
            <a:off x="4526280" y="1609344"/>
            <a:ext cx="0" cy="342900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9"/>
          <p:cNvSpPr/>
          <p:nvPr/>
        </p:nvSpPr>
        <p:spPr>
          <a:xfrm>
            <a:off x="4709160" y="171907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ru-RU" sz="800" b="1" i="0" u="none" strike="noStrike" cap="none" dirty="0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СОДЕРЖИМОЕ</a:t>
            </a:r>
            <a:r>
              <a:rPr lang="en-US" sz="800" b="1" i="0" u="none" strike="noStrike" cap="none" dirty="0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 ВЫХОДНОГО ФАЙЛА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709160" y="1993392"/>
            <a:ext cx="4069080" cy="566928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54" name="Google Shape;354;p9"/>
          <p:cNvSpPr/>
          <p:nvPr/>
        </p:nvSpPr>
        <p:spPr>
          <a:xfrm>
            <a:off x="4892040" y="205740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wells_schedule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892040" y="2377440"/>
            <a:ext cx="3703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FF"/>
              </a:buClr>
              <a:buSzPts val="800"/>
              <a:buFont typeface="Calibri"/>
              <a:buNone/>
            </a:pPr>
            <a:r>
              <a:rPr lang="en-US" sz="9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Управляющий</a:t>
            </a:r>
            <a:r>
              <a:rPr lang="en-US" sz="9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график</a:t>
            </a:r>
            <a:r>
              <a:rPr lang="en-US" sz="9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скважин</a:t>
            </a:r>
            <a:r>
              <a:rPr lang="en-US" sz="9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9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совместим</a:t>
            </a:r>
            <a:r>
              <a:rPr lang="en-US" sz="9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с ГГДМ</a:t>
            </a:r>
            <a:endParaRPr sz="9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9"/>
          <p:cNvCxnSpPr/>
          <p:nvPr/>
        </p:nvCxnSpPr>
        <p:spPr>
          <a:xfrm>
            <a:off x="4709160" y="2670048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7" name="Google Shape;357;p9"/>
          <p:cNvSpPr/>
          <p:nvPr/>
        </p:nvSpPr>
        <p:spPr>
          <a:xfrm>
            <a:off x="4709160" y="27614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№ скважины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446520" y="276148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Идентификатор в модели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9"/>
          <p:cNvCxnSpPr/>
          <p:nvPr/>
        </p:nvCxnSpPr>
        <p:spPr>
          <a:xfrm>
            <a:off x="4709160" y="3054096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9"/>
          <p:cNvSpPr/>
          <p:nvPr/>
        </p:nvSpPr>
        <p:spPr>
          <a:xfrm>
            <a:off x="4709160" y="31089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Временной шаг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446520" y="31089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Расчётный интервал (дата / номер)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9"/>
          <p:cNvCxnSpPr/>
          <p:nvPr/>
        </p:nvCxnSpPr>
        <p:spPr>
          <a:xfrm>
            <a:off x="4709160" y="3401568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3" name="Google Shape;363;p9"/>
          <p:cNvSpPr/>
          <p:nvPr/>
        </p:nvSpPr>
        <p:spPr>
          <a:xfrm>
            <a:off x="4709160" y="345643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Дебит жидкости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6446520" y="345643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Объём добычи / закачки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4709160" y="3749040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9"/>
          <p:cNvSpPr/>
          <p:nvPr/>
        </p:nvSpPr>
        <p:spPr>
          <a:xfrm>
            <a:off x="470916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Давление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446520" y="380390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Забойное или устьевое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9"/>
          <p:cNvCxnSpPr/>
          <p:nvPr/>
        </p:nvCxnSpPr>
        <p:spPr>
          <a:xfrm>
            <a:off x="4709160" y="4096512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9" name="Google Shape;369;p9"/>
          <p:cNvSpPr/>
          <p:nvPr/>
        </p:nvSpPr>
        <p:spPr>
          <a:xfrm>
            <a:off x="4709160" y="415137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Режим закачки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446520" y="415137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Для нагнетательных скважин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4709160" y="4572000"/>
            <a:ext cx="4069080" cy="384048"/>
          </a:xfrm>
          <a:prstGeom prst="rect">
            <a:avLst/>
          </a:prstGeom>
          <a:solidFill>
            <a:srgbClr val="E8E9FF"/>
          </a:solidFill>
          <a:ln w="12700" cap="flat" cmpd="sng">
            <a:solidFill>
              <a:srgbClr val="E8E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2" name="Google Shape;372;p9"/>
          <p:cNvSpPr/>
          <p:nvPr/>
        </p:nvSpPr>
        <p:spPr>
          <a:xfrm>
            <a:off x="4846320" y="4608576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0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UI / Веб-платформа — обязательна. Слой интерпретируемости с LLM в ядре агентов.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" name="Google Shape;378;p10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9" name="Google Shape;379;p10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1" name="Google Shape;381;p10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365760" y="71323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Calibri"/>
              <a:buNone/>
            </a:pPr>
            <a:r>
              <a:rPr lang="en-US" sz="28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Процедура валидации решений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0"/>
          <p:cNvCxnSpPr/>
          <p:nvPr/>
        </p:nvCxnSpPr>
        <p:spPr>
          <a:xfrm>
            <a:off x="365760" y="12984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4" name="Google Shape;384;p10"/>
          <p:cNvSpPr/>
          <p:nvPr/>
        </p:nvSpPr>
        <p:spPr>
          <a:xfrm>
            <a:off x="914410" y="1490178"/>
            <a:ext cx="320040" cy="32004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5" name="Google Shape;385;p10"/>
          <p:cNvSpPr/>
          <p:nvPr/>
        </p:nvSpPr>
        <p:spPr>
          <a:xfrm>
            <a:off x="914410" y="149017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0"/>
          <p:cNvCxnSpPr/>
          <p:nvPr/>
        </p:nvCxnSpPr>
        <p:spPr>
          <a:xfrm>
            <a:off x="1261882" y="1650198"/>
            <a:ext cx="1371600" cy="0"/>
          </a:xfrm>
          <a:prstGeom prst="straightConnector1">
            <a:avLst/>
          </a:prstGeom>
          <a:noFill/>
          <a:ln w="12700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7" name="Google Shape;387;p10"/>
          <p:cNvSpPr/>
          <p:nvPr/>
        </p:nvSpPr>
        <p:spPr>
          <a:xfrm>
            <a:off x="365760" y="1901658"/>
            <a:ext cx="1600200" cy="1758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8" name="Google Shape;388;p10"/>
          <p:cNvSpPr/>
          <p:nvPr/>
        </p:nvSpPr>
        <p:spPr>
          <a:xfrm>
            <a:off x="475498" y="1993098"/>
            <a:ext cx="1389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Calibri"/>
              <a:buNone/>
            </a:pPr>
            <a:r>
              <a:rPr lang="en-US" sz="10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Передача</a:t>
            </a:r>
            <a:r>
              <a:rPr lang="en-US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вал. </a:t>
            </a:r>
            <a:r>
              <a:rPr lang="en-US" sz="10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сценария</a:t>
            </a:r>
            <a:r>
              <a:rPr lang="en-US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участнику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75498" y="249601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Начальное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состояние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ГГДМ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10"/>
          <p:cNvCxnSpPr/>
          <p:nvPr/>
        </p:nvCxnSpPr>
        <p:spPr>
          <a:xfrm>
            <a:off x="475498" y="2825202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1" name="Google Shape;391;p10"/>
          <p:cNvSpPr/>
          <p:nvPr/>
        </p:nvSpPr>
        <p:spPr>
          <a:xfrm>
            <a:off x="475498" y="288006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1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Набор</a:t>
            </a:r>
            <a:r>
              <a:rPr lang="en-US" sz="900" b="0" i="1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1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ограничений</a:t>
            </a:r>
            <a:endParaRPr sz="9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10"/>
          <p:cNvCxnSpPr/>
          <p:nvPr/>
        </p:nvCxnSpPr>
        <p:spPr>
          <a:xfrm>
            <a:off x="475498" y="3209250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4" name="Google Shape;394;p10"/>
          <p:cNvSpPr/>
          <p:nvPr/>
        </p:nvSpPr>
        <p:spPr>
          <a:xfrm>
            <a:off x="2633482" y="1490178"/>
            <a:ext cx="320040" cy="32004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95" name="Google Shape;395;p10"/>
          <p:cNvSpPr/>
          <p:nvPr/>
        </p:nvSpPr>
        <p:spPr>
          <a:xfrm>
            <a:off x="2633482" y="149017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0"/>
          <p:cNvCxnSpPr/>
          <p:nvPr/>
        </p:nvCxnSpPr>
        <p:spPr>
          <a:xfrm>
            <a:off x="2980954" y="1650198"/>
            <a:ext cx="1371600" cy="0"/>
          </a:xfrm>
          <a:prstGeom prst="straightConnector1">
            <a:avLst/>
          </a:prstGeom>
          <a:noFill/>
          <a:ln w="12700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7" name="Google Shape;397;p10"/>
          <p:cNvSpPr/>
          <p:nvPr/>
        </p:nvSpPr>
        <p:spPr>
          <a:xfrm>
            <a:off x="2084834" y="1901658"/>
            <a:ext cx="1600200" cy="1758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98" name="Google Shape;398;p10"/>
          <p:cNvSpPr/>
          <p:nvPr/>
        </p:nvSpPr>
        <p:spPr>
          <a:xfrm>
            <a:off x="2194570" y="1993098"/>
            <a:ext cx="1389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Формирование решения МАС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2194570" y="249601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Генерация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управляющих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воздействий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0"/>
          <p:cNvCxnSpPr/>
          <p:nvPr/>
        </p:nvCxnSpPr>
        <p:spPr>
          <a:xfrm>
            <a:off x="2194570" y="2825202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1" name="Google Shape;401;p10"/>
          <p:cNvSpPr/>
          <p:nvPr/>
        </p:nvSpPr>
        <p:spPr>
          <a:xfrm>
            <a:off x="2194570" y="288006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весь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прогнозный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период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10"/>
          <p:cNvCxnSpPr/>
          <p:nvPr/>
        </p:nvCxnSpPr>
        <p:spPr>
          <a:xfrm>
            <a:off x="2194570" y="3209250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3" name="Google Shape;403;p10"/>
          <p:cNvSpPr/>
          <p:nvPr/>
        </p:nvSpPr>
        <p:spPr>
          <a:xfrm>
            <a:off x="2194570" y="3264114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Все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учтены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на всем периоде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352554" y="1490178"/>
            <a:ext cx="320040" cy="32004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05" name="Google Shape;405;p10"/>
          <p:cNvSpPr/>
          <p:nvPr/>
        </p:nvSpPr>
        <p:spPr>
          <a:xfrm>
            <a:off x="4352554" y="149017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10"/>
          <p:cNvCxnSpPr/>
          <p:nvPr/>
        </p:nvCxnSpPr>
        <p:spPr>
          <a:xfrm>
            <a:off x="4700026" y="1650198"/>
            <a:ext cx="1371600" cy="0"/>
          </a:xfrm>
          <a:prstGeom prst="straightConnector1">
            <a:avLst/>
          </a:prstGeom>
          <a:noFill/>
          <a:ln w="12700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7" name="Google Shape;407;p10"/>
          <p:cNvSpPr/>
          <p:nvPr/>
        </p:nvSpPr>
        <p:spPr>
          <a:xfrm>
            <a:off x="3803909" y="1901658"/>
            <a:ext cx="1600200" cy="1758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08" name="Google Shape;408;p10"/>
          <p:cNvSpPr/>
          <p:nvPr/>
        </p:nvSpPr>
        <p:spPr>
          <a:xfrm>
            <a:off x="3913642" y="1993098"/>
            <a:ext cx="1389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Calibri"/>
              <a:buNone/>
            </a:pPr>
            <a:r>
              <a:rPr lang="en-US" sz="10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Передача</a:t>
            </a:r>
            <a:r>
              <a:rPr lang="en-US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результатов</a:t>
            </a:r>
            <a:r>
              <a:rPr lang="ru-RU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организаторам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913642" y="249601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wells_schedule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0"/>
          <p:cNvCxnSpPr/>
          <p:nvPr/>
        </p:nvCxnSpPr>
        <p:spPr>
          <a:xfrm>
            <a:off x="3913642" y="2825202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10"/>
          <p:cNvSpPr/>
          <p:nvPr/>
        </p:nvSpPr>
        <p:spPr>
          <a:xfrm>
            <a:off x="3913642" y="288006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Заявленное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значение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NPV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0"/>
          <p:cNvCxnSpPr/>
          <p:nvPr/>
        </p:nvCxnSpPr>
        <p:spPr>
          <a:xfrm>
            <a:off x="3913642" y="3209250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3" name="Google Shape;413;p10"/>
          <p:cNvSpPr/>
          <p:nvPr/>
        </p:nvSpPr>
        <p:spPr>
          <a:xfrm>
            <a:off x="3913642" y="3264114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Исходный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код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документация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6071626" y="1490178"/>
            <a:ext cx="320040" cy="32004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15" name="Google Shape;415;p10"/>
          <p:cNvSpPr/>
          <p:nvPr/>
        </p:nvSpPr>
        <p:spPr>
          <a:xfrm>
            <a:off x="6071626" y="149017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0"/>
          <p:cNvCxnSpPr/>
          <p:nvPr/>
        </p:nvCxnSpPr>
        <p:spPr>
          <a:xfrm>
            <a:off x="6419098" y="1650198"/>
            <a:ext cx="1371600" cy="0"/>
          </a:xfrm>
          <a:prstGeom prst="straightConnector1">
            <a:avLst/>
          </a:prstGeom>
          <a:noFill/>
          <a:ln w="12700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7" name="Google Shape;417;p10"/>
          <p:cNvSpPr/>
          <p:nvPr/>
        </p:nvSpPr>
        <p:spPr>
          <a:xfrm>
            <a:off x="5522983" y="1901658"/>
            <a:ext cx="1600200" cy="1758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18" name="Google Shape;418;p10"/>
          <p:cNvSpPr/>
          <p:nvPr/>
        </p:nvSpPr>
        <p:spPr>
          <a:xfrm>
            <a:off x="5632714" y="1993098"/>
            <a:ext cx="1389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Calibri"/>
              <a:buNone/>
            </a:pPr>
            <a:r>
              <a:rPr lang="en-US" sz="10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Расчёт</a:t>
            </a:r>
            <a:r>
              <a:rPr lang="en-US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ГГДМ</a:t>
            </a:r>
            <a:r>
              <a:rPr lang="ru-RU" sz="10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(на стороне организаторов)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5632714" y="249601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Загрузка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файла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в ГГДМ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0"/>
          <p:cNvCxnSpPr/>
          <p:nvPr/>
        </p:nvCxnSpPr>
        <p:spPr>
          <a:xfrm>
            <a:off x="5632714" y="2825202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1" name="Google Shape;421;p10"/>
          <p:cNvSpPr/>
          <p:nvPr/>
        </p:nvSpPr>
        <p:spPr>
          <a:xfrm>
            <a:off x="5632714" y="288006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Расчёт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сценария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разработки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0"/>
          <p:cNvCxnSpPr/>
          <p:nvPr/>
        </p:nvCxnSpPr>
        <p:spPr>
          <a:xfrm>
            <a:off x="5632714" y="3209250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" name="Google Shape;423;p10"/>
          <p:cNvSpPr/>
          <p:nvPr/>
        </p:nvSpPr>
        <p:spPr>
          <a:xfrm>
            <a:off x="5632714" y="3264114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Автовыгрузка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результатов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7790698" y="1490178"/>
            <a:ext cx="320040" cy="32004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25" name="Google Shape;425;p10"/>
          <p:cNvSpPr/>
          <p:nvPr/>
        </p:nvSpPr>
        <p:spPr>
          <a:xfrm>
            <a:off x="7790698" y="149017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7242058" y="1901658"/>
            <a:ext cx="1600200" cy="1758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27" name="Google Shape;427;p10"/>
          <p:cNvSpPr/>
          <p:nvPr/>
        </p:nvSpPr>
        <p:spPr>
          <a:xfrm>
            <a:off x="7351786" y="1993098"/>
            <a:ext cx="1389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Оценка и сравнение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7351786" y="249601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Показатели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добычи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закачки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10"/>
          <p:cNvCxnSpPr/>
          <p:nvPr/>
        </p:nvCxnSpPr>
        <p:spPr>
          <a:xfrm>
            <a:off x="7351786" y="2825202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0" name="Google Shape;430;p10"/>
          <p:cNvSpPr/>
          <p:nvPr/>
        </p:nvSpPr>
        <p:spPr>
          <a:xfrm>
            <a:off x="7351786" y="288006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Соблюдение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ограничений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10"/>
          <p:cNvCxnSpPr/>
          <p:nvPr/>
        </p:nvCxnSpPr>
        <p:spPr>
          <a:xfrm>
            <a:off x="7351786" y="3209250"/>
            <a:ext cx="1389888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2" name="Google Shape;432;p10"/>
          <p:cNvSpPr/>
          <p:nvPr/>
        </p:nvSpPr>
        <p:spPr>
          <a:xfrm>
            <a:off x="7351786" y="3264114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Полученный 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NPV vs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заявленный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референс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(в финале)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10"/>
          <p:cNvCxnSpPr/>
          <p:nvPr/>
        </p:nvCxnSpPr>
        <p:spPr>
          <a:xfrm>
            <a:off x="365760" y="459028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4" name="Google Shape;434;p10"/>
          <p:cNvSpPr/>
          <p:nvPr/>
        </p:nvSpPr>
        <p:spPr>
          <a:xfrm>
            <a:off x="365760" y="4709160"/>
            <a:ext cx="841248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35" name="Google Shape;435;p10"/>
          <p:cNvSpPr/>
          <p:nvPr/>
        </p:nvSpPr>
        <p:spPr>
          <a:xfrm>
            <a:off x="365760" y="46634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РЕФЕРЕНСНЫЙ СЦЕНАРИЙ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2834650" y="4709158"/>
            <a:ext cx="5943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Заранее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сформированный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эталонный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сценарий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соответствующий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всем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ограничениям</a:t>
            </a:r>
            <a:r>
              <a:rPr lang="ru-RU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обеспечивающий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близкое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к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оптимальному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значение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NPV.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Используется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как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верхняя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граница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качества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решения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финальном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ранжировании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команд</a:t>
            </a:r>
            <a:r>
              <a:rPr lang="en-US" sz="900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 dirty="0">
              <a:solidFill>
                <a:srgbClr val="606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endParaRPr sz="900" dirty="0">
              <a:solidFill>
                <a:srgbClr val="606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1" name="Google Shape;481;p12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" name="Google Shape;482;p12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solidFill>
            <a:srgbClr val="444458"/>
          </a:solidFill>
          <a:ln w="12700" cap="flat" cmpd="sng">
            <a:solidFill>
              <a:srgbClr val="4444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4" name="Google Shape;484;p12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365760" y="713232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Масштабируемая</a:t>
            </a:r>
            <a:r>
              <a:rPr lang="en-US" sz="24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МАС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 </a:t>
            </a: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нейросетевыми</a:t>
            </a:r>
            <a:r>
              <a:rPr lang="en-US" sz="24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суррогат</a:t>
            </a:r>
            <a:r>
              <a:rPr lang="en-US" sz="2400" b="1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ными</a:t>
            </a:r>
            <a:r>
              <a:rPr lang="en-US" sz="2400" b="1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моделями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2"/>
          <p:cNvCxnSpPr/>
          <p:nvPr/>
        </p:nvCxnSpPr>
        <p:spPr>
          <a:xfrm>
            <a:off x="365760" y="160020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7" name="Google Shape;487;p12"/>
          <p:cNvSpPr/>
          <p:nvPr/>
        </p:nvSpPr>
        <p:spPr>
          <a:xfrm>
            <a:off x="365760" y="170992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ПОЧЕМУ СУРРОГАТНАЯ МОДЕЛЬ?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65760" y="198424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~100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скважинах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непосредственный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запуск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ГГДМ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проверки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каждой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гипотезы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вычислительно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неприемлем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Полная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ГГДМ —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только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финальной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проверки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2"/>
          <p:cNvCxnSpPr/>
          <p:nvPr/>
        </p:nvCxnSpPr>
        <p:spPr>
          <a:xfrm>
            <a:off x="365760" y="2606040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0" name="Google Shape;490;p12"/>
          <p:cNvSpPr/>
          <p:nvPr/>
        </p:nvSpPr>
        <p:spPr>
          <a:xfrm>
            <a:off x="365759" y="2697480"/>
            <a:ext cx="416051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ru-RU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Модель месторождения сложнее, архитектура МАС должна быть разработана с выделением логических уровней, где работают 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RL </a:t>
            </a:r>
            <a:r>
              <a:rPr lang="ru-RU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агенты, суррогаты, 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ru-RU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и как устроено их взаимодействие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365760" y="33101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679525" y="3310125"/>
            <a:ext cx="1388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Обучаемая модель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2067625" y="3310125"/>
            <a:ext cx="2321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Нейросеть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обученная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расчётах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ГГДМ: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входы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управляющие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параметры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выходы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добыча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NPV.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4" name="Google Shape;494;p12"/>
          <p:cNvCxnSpPr/>
          <p:nvPr/>
        </p:nvCxnSpPr>
        <p:spPr>
          <a:xfrm>
            <a:off x="355433" y="3763381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5" name="Google Shape;495;p12"/>
          <p:cNvSpPr/>
          <p:nvPr/>
        </p:nvSpPr>
        <p:spPr>
          <a:xfrm>
            <a:off x="355433" y="3818245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669198" y="3818243"/>
            <a:ext cx="1388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Скорость vs точность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2057298" y="3818243"/>
            <a:ext cx="2321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9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Суррогат в тысячи раз быстрее ГГДМ при допустимой погрешности прогноза.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12"/>
          <p:cNvCxnSpPr/>
          <p:nvPr/>
        </p:nvCxnSpPr>
        <p:spPr>
          <a:xfrm>
            <a:off x="355433" y="4184005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9" name="Google Shape;499;p12"/>
          <p:cNvSpPr/>
          <p:nvPr/>
        </p:nvSpPr>
        <p:spPr>
          <a:xfrm>
            <a:off x="355433" y="4238869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69198" y="4238868"/>
            <a:ext cx="1388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Применение в цикле МАС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2057298" y="4238867"/>
            <a:ext cx="2321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9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МАС обращается к суррогату для оценки гипотез, лучший вариант — на ГГДМ.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12"/>
          <p:cNvCxnSpPr/>
          <p:nvPr/>
        </p:nvCxnSpPr>
        <p:spPr>
          <a:xfrm>
            <a:off x="355433" y="4604629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3" name="Google Shape;503;p12"/>
          <p:cNvSpPr/>
          <p:nvPr/>
        </p:nvSpPr>
        <p:spPr>
          <a:xfrm>
            <a:off x="355433" y="4659493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04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669198" y="4659492"/>
            <a:ext cx="1388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Качество суррогата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2057298" y="4659492"/>
            <a:ext cx="2321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9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Оценивается согласованность с ГГДМ и способность обобщаться на новые сценарии.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6" name="Google Shape;506;p12"/>
          <p:cNvCxnSpPr/>
          <p:nvPr/>
        </p:nvCxnSpPr>
        <p:spPr>
          <a:xfrm>
            <a:off x="4526280" y="1600200"/>
            <a:ext cx="0" cy="342900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7" name="Google Shape;507;p12"/>
          <p:cNvSpPr/>
          <p:nvPr/>
        </p:nvSpPr>
        <p:spPr>
          <a:xfrm>
            <a:off x="4709160" y="170992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9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МАСШТАБ ЗАДАЧИ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4709160" y="1993392"/>
            <a:ext cx="4114800" cy="347472"/>
          </a:xfrm>
          <a:prstGeom prst="rect">
            <a:avLst/>
          </a:prstGeom>
          <a:solidFill>
            <a:srgbClr val="2D34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9" name="Google Shape;509;p12"/>
          <p:cNvSpPr/>
          <p:nvPr/>
        </p:nvSpPr>
        <p:spPr>
          <a:xfrm>
            <a:off x="4800600" y="20391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00"/>
              <a:buFont typeface="Calibri"/>
              <a:buNone/>
            </a:pPr>
            <a:r>
              <a:rPr lang="en-US" sz="10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Параметр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035040" y="20391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Трек 1</a:t>
            </a:r>
            <a:endParaRPr sz="10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7178040" y="203911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Трек 2</a:t>
            </a:r>
            <a:endParaRPr sz="10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2"/>
          <p:cNvCxnSpPr/>
          <p:nvPr/>
        </p:nvCxnSpPr>
        <p:spPr>
          <a:xfrm>
            <a:off x="5989320" y="1993392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3" name="Google Shape;513;p12"/>
          <p:cNvCxnSpPr/>
          <p:nvPr/>
        </p:nvCxnSpPr>
        <p:spPr>
          <a:xfrm>
            <a:off x="7132320" y="1993392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4" name="Google Shape;514;p12"/>
          <p:cNvSpPr/>
          <p:nvPr/>
        </p:nvSpPr>
        <p:spPr>
          <a:xfrm>
            <a:off x="4709160" y="2377440"/>
            <a:ext cx="4114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5" name="Google Shape;515;p12"/>
          <p:cNvSpPr/>
          <p:nvPr/>
        </p:nvSpPr>
        <p:spPr>
          <a:xfrm>
            <a:off x="4800600" y="242316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Фонд скважин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6035040" y="24231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~46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7178040" y="2423160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~100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12"/>
          <p:cNvCxnSpPr/>
          <p:nvPr/>
        </p:nvCxnSpPr>
        <p:spPr>
          <a:xfrm>
            <a:off x="5989320" y="2377440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9" name="Google Shape;519;p12"/>
          <p:cNvCxnSpPr/>
          <p:nvPr/>
        </p:nvCxnSpPr>
        <p:spPr>
          <a:xfrm>
            <a:off x="7132320" y="2377440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0" name="Google Shape;520;p12"/>
          <p:cNvCxnSpPr/>
          <p:nvPr/>
        </p:nvCxnSpPr>
        <p:spPr>
          <a:xfrm>
            <a:off x="4709160" y="2715768"/>
            <a:ext cx="41148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1" name="Google Shape;521;p12"/>
          <p:cNvSpPr/>
          <p:nvPr/>
        </p:nvSpPr>
        <p:spPr>
          <a:xfrm>
            <a:off x="4709160" y="2761488"/>
            <a:ext cx="4114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2" name="Google Shape;522;p12"/>
          <p:cNvSpPr/>
          <p:nvPr/>
        </p:nvSpPr>
        <p:spPr>
          <a:xfrm>
            <a:off x="4800600" y="280720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Суррогатная модель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6035040" y="28072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 требуется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7178040" y="2807208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1000" b="1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Рекомендуется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12"/>
          <p:cNvCxnSpPr/>
          <p:nvPr/>
        </p:nvCxnSpPr>
        <p:spPr>
          <a:xfrm>
            <a:off x="5989320" y="2761488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6" name="Google Shape;526;p12"/>
          <p:cNvCxnSpPr/>
          <p:nvPr/>
        </p:nvCxnSpPr>
        <p:spPr>
          <a:xfrm>
            <a:off x="7132320" y="2761488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7" name="Google Shape;527;p12"/>
          <p:cNvCxnSpPr/>
          <p:nvPr/>
        </p:nvCxnSpPr>
        <p:spPr>
          <a:xfrm>
            <a:off x="4709160" y="3099816"/>
            <a:ext cx="41148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8" name="Google Shape;528;p12"/>
          <p:cNvSpPr/>
          <p:nvPr/>
        </p:nvSpPr>
        <p:spPr>
          <a:xfrm>
            <a:off x="4709160" y="3145536"/>
            <a:ext cx="4114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9" name="Google Shape;529;p12"/>
          <p:cNvSpPr/>
          <p:nvPr/>
        </p:nvSpPr>
        <p:spPr>
          <a:xfrm>
            <a:off x="4800600" y="319125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Использование ГГДМ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6035040" y="319125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 каждой итерации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7178040" y="3191256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Только финальная проверка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p12"/>
          <p:cNvCxnSpPr/>
          <p:nvPr/>
        </p:nvCxnSpPr>
        <p:spPr>
          <a:xfrm>
            <a:off x="5989320" y="3145536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3" name="Google Shape;533;p12"/>
          <p:cNvCxnSpPr/>
          <p:nvPr/>
        </p:nvCxnSpPr>
        <p:spPr>
          <a:xfrm>
            <a:off x="7132320" y="3145536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4" name="Google Shape;534;p12"/>
          <p:cNvCxnSpPr/>
          <p:nvPr/>
        </p:nvCxnSpPr>
        <p:spPr>
          <a:xfrm>
            <a:off x="4709160" y="3483864"/>
            <a:ext cx="41148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5" name="Google Shape;535;p12"/>
          <p:cNvSpPr/>
          <p:nvPr/>
        </p:nvSpPr>
        <p:spPr>
          <a:xfrm>
            <a:off x="4709160" y="3529584"/>
            <a:ext cx="4114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6" name="Google Shape;536;p12"/>
          <p:cNvSpPr/>
          <p:nvPr/>
        </p:nvSpPr>
        <p:spPr>
          <a:xfrm>
            <a:off x="4800600" y="357530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Скорость решения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6035040" y="35753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Умеренная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7178040" y="3575304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Критически важная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" name="Google Shape;539;p12"/>
          <p:cNvCxnSpPr/>
          <p:nvPr/>
        </p:nvCxnSpPr>
        <p:spPr>
          <a:xfrm>
            <a:off x="5989320" y="3529584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0" name="Google Shape;540;p12"/>
          <p:cNvCxnSpPr/>
          <p:nvPr/>
        </p:nvCxnSpPr>
        <p:spPr>
          <a:xfrm>
            <a:off x="7132320" y="3529584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1" name="Google Shape;541;p12"/>
          <p:cNvCxnSpPr/>
          <p:nvPr/>
        </p:nvCxnSpPr>
        <p:spPr>
          <a:xfrm>
            <a:off x="4709160" y="3867912"/>
            <a:ext cx="41148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2" name="Google Shape;542;p12"/>
          <p:cNvSpPr/>
          <p:nvPr/>
        </p:nvSpPr>
        <p:spPr>
          <a:xfrm>
            <a:off x="4709160" y="3913632"/>
            <a:ext cx="4114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3" name="Google Shape;543;p12"/>
          <p:cNvSpPr/>
          <p:nvPr/>
        </p:nvSpPr>
        <p:spPr>
          <a:xfrm>
            <a:off x="4800600" y="395935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Проверка гипотез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6035040" y="39593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Напрямую через ГГДМ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7178040" y="39593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Суррогат + финал ГГДМ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2"/>
          <p:cNvCxnSpPr/>
          <p:nvPr/>
        </p:nvCxnSpPr>
        <p:spPr>
          <a:xfrm>
            <a:off x="5989320" y="3913632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7" name="Google Shape;547;p12"/>
          <p:cNvCxnSpPr/>
          <p:nvPr/>
        </p:nvCxnSpPr>
        <p:spPr>
          <a:xfrm>
            <a:off x="7132320" y="3913632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8" name="Google Shape;548;p12"/>
          <p:cNvCxnSpPr/>
          <p:nvPr/>
        </p:nvCxnSpPr>
        <p:spPr>
          <a:xfrm>
            <a:off x="4709160" y="4251960"/>
            <a:ext cx="411480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9" name="Google Shape;549;p12"/>
          <p:cNvSpPr/>
          <p:nvPr/>
        </p:nvSpPr>
        <p:spPr>
          <a:xfrm>
            <a:off x="4709160" y="4297680"/>
            <a:ext cx="4114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0" name="Google Shape;550;p12"/>
          <p:cNvSpPr/>
          <p:nvPr/>
        </p:nvSpPr>
        <p:spPr>
          <a:xfrm>
            <a:off x="4800600" y="43434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Основной фокус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6035040" y="43434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00"/>
              <a:buFont typeface="Calibri"/>
              <a:buNone/>
            </a:pPr>
            <a:r>
              <a:rPr lang="en-US" sz="1000" b="0" i="0" u="none" strike="noStrike" cap="none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Корректность МАС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7178040" y="4343400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Корректность + масштаб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12"/>
          <p:cNvCxnSpPr/>
          <p:nvPr/>
        </p:nvCxnSpPr>
        <p:spPr>
          <a:xfrm>
            <a:off x="5989320" y="4297680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4" name="Google Shape;554;p12"/>
          <p:cNvCxnSpPr/>
          <p:nvPr/>
        </p:nvCxnSpPr>
        <p:spPr>
          <a:xfrm>
            <a:off x="7132320" y="4297680"/>
            <a:ext cx="0" cy="347472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0" name="Google Shape;560;p13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1" name="Google Shape;561;p13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solidFill>
            <a:srgbClr val="444458"/>
          </a:solidFill>
          <a:ln w="12700" cap="flat" cmpd="sng">
            <a:solidFill>
              <a:srgbClr val="4444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63" name="Google Shape;563;p13"/>
          <p:cNvSpPr/>
          <p:nvPr/>
        </p:nvSpPr>
        <p:spPr>
          <a:xfrm>
            <a:off x="365760" y="47548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ТРЕК · 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365760" y="713232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Постановка</a:t>
            </a:r>
            <a:r>
              <a:rPr lang="en-US" sz="24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задачи</a:t>
            </a:r>
            <a:r>
              <a:rPr lang="en-US" sz="24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валидация</a:t>
            </a:r>
            <a:r>
              <a:rPr lang="en-US" sz="24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критерии</a:t>
            </a:r>
            <a:r>
              <a:rPr lang="en-US" sz="24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оценки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5" name="Google Shape;565;p13"/>
          <p:cNvCxnSpPr/>
          <p:nvPr/>
        </p:nvCxnSpPr>
        <p:spPr>
          <a:xfrm>
            <a:off x="365760" y="160020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6" name="Google Shape;566;p13"/>
          <p:cNvSpPr/>
          <p:nvPr/>
        </p:nvSpPr>
        <p:spPr>
          <a:xfrm>
            <a:off x="365760" y="170992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ЗАДАЧА МАС В ТРЕКЕ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365760" y="19933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/>
          <p:nvPr/>
        </p:nvSpPr>
        <p:spPr>
          <a:xfrm>
            <a:off x="859536" y="1993392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Работать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базе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суррогатной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модели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ускоренной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оценки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решений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опционально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13"/>
          <p:cNvCxnSpPr/>
          <p:nvPr/>
        </p:nvCxnSpPr>
        <p:spPr>
          <a:xfrm>
            <a:off x="365760" y="2322576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0" name="Google Shape;570;p13"/>
          <p:cNvSpPr/>
          <p:nvPr/>
        </p:nvSpPr>
        <p:spPr>
          <a:xfrm>
            <a:off x="365760" y="237744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859536" y="2377440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Анализировать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состояние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месторождения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(~100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скважин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сложные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взаимосвязи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572;p13"/>
          <p:cNvCxnSpPr/>
          <p:nvPr/>
        </p:nvCxnSpPr>
        <p:spPr>
          <a:xfrm>
            <a:off x="365760" y="2706624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3" name="Google Shape;573;p13"/>
          <p:cNvSpPr/>
          <p:nvPr/>
        </p:nvSpPr>
        <p:spPr>
          <a:xfrm>
            <a:off x="365760" y="27614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859536" y="2761488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Учитывать ограничения и возмущения (расширенный набор сценариев)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13"/>
          <p:cNvCxnSpPr/>
          <p:nvPr/>
        </p:nvCxnSpPr>
        <p:spPr>
          <a:xfrm>
            <a:off x="365760" y="3090672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6" name="Google Shape;576;p13"/>
          <p:cNvSpPr/>
          <p:nvPr/>
        </p:nvSpPr>
        <p:spPr>
          <a:xfrm>
            <a:off x="365760" y="314553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04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859536" y="3145536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Формировать управляющие решения в условиях ограниченного времени расчёта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13"/>
          <p:cNvCxnSpPr/>
          <p:nvPr/>
        </p:nvCxnSpPr>
        <p:spPr>
          <a:xfrm>
            <a:off x="365760" y="3474720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9" name="Google Shape;579;p13"/>
          <p:cNvSpPr/>
          <p:nvPr/>
        </p:nvSpPr>
        <p:spPr>
          <a:xfrm>
            <a:off x="365760" y="352958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05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859536" y="3529584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Переводить скважины из добычи в закачку (ППД) для поддержания пластового давления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13"/>
          <p:cNvCxnSpPr/>
          <p:nvPr/>
        </p:nvCxnSpPr>
        <p:spPr>
          <a:xfrm>
            <a:off x="365760" y="3858768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2" name="Google Shape;582;p13"/>
          <p:cNvSpPr/>
          <p:nvPr/>
        </p:nvSpPr>
        <p:spPr>
          <a:xfrm>
            <a:off x="365760" y="391363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06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859536" y="3913632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Сохранять работоспособность при масштабировании и усложнении задачи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13"/>
          <p:cNvCxnSpPr/>
          <p:nvPr/>
        </p:nvCxnSpPr>
        <p:spPr>
          <a:xfrm>
            <a:off x="365760" y="4242816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5" name="Google Shape;585;p13"/>
          <p:cNvSpPr/>
          <p:nvPr/>
        </p:nvSpPr>
        <p:spPr>
          <a:xfrm>
            <a:off x="365760" y="429768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58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444458"/>
                </a:solidFill>
                <a:latin typeface="Calibri"/>
                <a:ea typeface="Calibri"/>
                <a:cs typeface="Calibri"/>
                <a:sym typeface="Calibri"/>
              </a:rPr>
              <a:t>07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859536" y="4297680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Обеспечивать максимизацию NPV как глобальной целевой функции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13"/>
          <p:cNvCxnSpPr/>
          <p:nvPr/>
        </p:nvCxnSpPr>
        <p:spPr>
          <a:xfrm>
            <a:off x="4526280" y="1600200"/>
            <a:ext cx="0" cy="342900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8" name="Google Shape;588;p13"/>
          <p:cNvSpPr/>
          <p:nvPr/>
        </p:nvSpPr>
        <p:spPr>
          <a:xfrm>
            <a:off x="4709160" y="170992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ОТЛИЧИЕ ВАЛИДАЦИИ ОТ ТРЕКА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4709160" y="1993392"/>
            <a:ext cx="4069080" cy="566928"/>
          </a:xfrm>
          <a:prstGeom prst="rect">
            <a:avLst/>
          </a:prstGeom>
          <a:solidFill>
            <a:srgbClr val="E8E9FF"/>
          </a:solidFill>
          <a:ln w="12700" cap="flat" cmpd="sng">
            <a:solidFill>
              <a:srgbClr val="E8E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90" name="Google Shape;590;p13"/>
          <p:cNvSpPr/>
          <p:nvPr/>
        </p:nvSpPr>
        <p:spPr>
          <a:xfrm>
            <a:off x="4846320" y="204825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9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ГГДМ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используется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ТОЛЬКО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финальной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проверки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Промежуточные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итерации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участник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оценивает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сам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через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суррогатную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модель</a:t>
            </a:r>
            <a:r>
              <a:rPr lang="en-US" sz="1000" b="0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13"/>
          <p:cNvCxnSpPr/>
          <p:nvPr/>
        </p:nvCxnSpPr>
        <p:spPr>
          <a:xfrm>
            <a:off x="4709160" y="2651760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2" name="Google Shape;592;p13"/>
          <p:cNvSpPr/>
          <p:nvPr/>
        </p:nvSpPr>
        <p:spPr>
          <a:xfrm>
            <a:off x="4709160" y="272491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ДОПОЛНИТЕЛЬНЫЕ КРИТЕРИИ ОЦЕНКИ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4709160" y="2999232"/>
            <a:ext cx="4069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Эффективность вычислительных ресурсов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4709160" y="3255264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Скорость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принятия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решений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без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полного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перебора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вариантов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13"/>
          <p:cNvCxnSpPr/>
          <p:nvPr/>
        </p:nvCxnSpPr>
        <p:spPr>
          <a:xfrm>
            <a:off x="4709160" y="3611880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6" name="Google Shape;596;p13"/>
          <p:cNvSpPr/>
          <p:nvPr/>
        </p:nvSpPr>
        <p:spPr>
          <a:xfrm>
            <a:off x="4709160" y="3685032"/>
            <a:ext cx="4069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Качество суррогатной модели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4709160" y="3941064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Согласованность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с ГГДМ;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обобщение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новые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сценарии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13"/>
          <p:cNvCxnSpPr/>
          <p:nvPr/>
        </p:nvCxnSpPr>
        <p:spPr>
          <a:xfrm>
            <a:off x="4709160" y="4297680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9" name="Google Shape;599;p13"/>
          <p:cNvSpPr/>
          <p:nvPr/>
        </p:nvSpPr>
        <p:spPr>
          <a:xfrm>
            <a:off x="4709160" y="4370832"/>
            <a:ext cx="4069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alibri"/>
              <a:buNone/>
            </a:pPr>
            <a:r>
              <a:rPr lang="en-US" sz="105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Масштабируемость архитектуры МАС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4709160" y="4626864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105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Устойчивость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увеличении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фонда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скважин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до</a:t>
            </a:r>
            <a:r>
              <a:rPr lang="en-US" sz="11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100+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6983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Трек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1 vs Трек 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29272"/>
            <a:ext cx="2286000" cy="301752"/>
          </a:xfrm>
          <a:prstGeom prst="rect">
            <a:avLst/>
          </a:prstGeom>
          <a:solidFill>
            <a:srgbClr val="2D34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38912" y="137499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51760" y="1326322"/>
            <a:ext cx="3017520" cy="301752"/>
          </a:xfrm>
          <a:prstGeom prst="rect">
            <a:avLst/>
          </a:prstGeom>
          <a:solidFill>
            <a:srgbClr val="2D34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2724912" y="137499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Трек 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0" y="1329272"/>
            <a:ext cx="3154680" cy="301752"/>
          </a:xfrm>
          <a:prstGeom prst="rect">
            <a:avLst/>
          </a:prstGeom>
          <a:solidFill>
            <a:srgbClr val="2D34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742432" y="137499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Трек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1644740"/>
            <a:ext cx="2286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38912" y="16904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модели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51760" y="1644740"/>
            <a:ext cx="3017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2724912" y="169046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~46 скважин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0" y="1644740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742432" y="169046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~100 скважин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1960208"/>
            <a:ext cx="228600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38912" y="20059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Суррогатная модель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51760" y="1960208"/>
            <a:ext cx="301752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2724912" y="200592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требуется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0" y="1960208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742432" y="2005928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b="1" kern="1200" dirty="0">
                <a:solidFill>
                  <a:srgbClr val="2D3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ускорения расчетов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2275676"/>
            <a:ext cx="2286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38912" y="232139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ГГДМ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51760" y="2275676"/>
            <a:ext cx="3017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2724912" y="232139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каждой итерации цикла МАС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0" y="2275676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742432" y="232139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для финальной проверки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65760" y="2586572"/>
            <a:ext cx="228600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438912" y="263229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гипотез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651760" y="2586572"/>
            <a:ext cx="301752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2724912" y="263229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Напрямую через ГГДМ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0" y="2586572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742432" y="263229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суррогат + финальная проверка ГГДМ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65760" y="2902040"/>
            <a:ext cx="2286000" cy="301752"/>
          </a:xfrm>
          <a:prstGeom prst="rect">
            <a:avLst/>
          </a:prstGeom>
          <a:solidFill>
            <a:schemeClr val="bg1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438912" y="29477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фокус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651760" y="2902040"/>
            <a:ext cx="3017520" cy="301752"/>
          </a:xfrm>
          <a:prstGeom prst="rect">
            <a:avLst/>
          </a:prstGeom>
          <a:solidFill>
            <a:schemeClr val="bg1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2724912" y="294776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решений МАС в условиях ограничений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669280" y="2902040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742432" y="294776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+ масштабируемость + эффективность ресурсов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65760" y="3217508"/>
            <a:ext cx="228600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438912" y="32632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buClr>
                <a:srgbClr val="444458"/>
              </a:buClr>
              <a:buSzPts val="900"/>
            </a:pPr>
            <a:r>
              <a:rPr lang="ru-RU" sz="1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Результат </a:t>
            </a:r>
            <a:endParaRPr lang="ru-RU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651760" y="3217508"/>
            <a:ext cx="301752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2724912" y="326322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buClrTx/>
            </a:pPr>
            <a:r>
              <a:rPr lang="ru-RU" sz="900" kern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Управляющие последовательности</a:t>
            </a:r>
          </a:p>
        </p:txBody>
      </p:sp>
      <p:sp>
        <p:nvSpPr>
          <p:cNvPr id="53" name="Shape 51"/>
          <p:cNvSpPr/>
          <p:nvPr/>
        </p:nvSpPr>
        <p:spPr>
          <a:xfrm>
            <a:off x="5669280" y="3217508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742432" y="3263228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900" b="1" kern="1200" dirty="0">
                <a:solidFill>
                  <a:srgbClr val="2D3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Управляющие последовательности + р</a:t>
            </a: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езультаты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оценки на суррогате; метрики качества прогноза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65760" y="3532976"/>
            <a:ext cx="2286000" cy="301752"/>
          </a:xfrm>
          <a:prstGeom prst="rect">
            <a:avLst/>
          </a:prstGeom>
          <a:solidFill>
            <a:schemeClr val="bg1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438912" y="357869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функция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651760" y="3532976"/>
            <a:ext cx="3017520" cy="301752"/>
          </a:xfrm>
          <a:prstGeom prst="rect">
            <a:avLst/>
          </a:prstGeom>
          <a:solidFill>
            <a:schemeClr val="bg1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2724912" y="357869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Максимизация NPV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669280" y="3532976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58"/>
          <p:cNvSpPr/>
          <p:nvPr/>
        </p:nvSpPr>
        <p:spPr>
          <a:xfrm>
            <a:off x="5742432" y="357869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Максимизация NPV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65760" y="3848444"/>
            <a:ext cx="228600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438912" y="38941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UI / Веб-платформа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651760" y="3848444"/>
            <a:ext cx="301752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Text 62"/>
          <p:cNvSpPr/>
          <p:nvPr/>
        </p:nvSpPr>
        <p:spPr>
          <a:xfrm>
            <a:off x="2724912" y="389416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669280" y="3848444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6" name="Text 64"/>
          <p:cNvSpPr/>
          <p:nvPr/>
        </p:nvSpPr>
        <p:spPr>
          <a:xfrm>
            <a:off x="5742432" y="38941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Обязательна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65760" y="4163912"/>
            <a:ext cx="2286000" cy="301752"/>
          </a:xfrm>
          <a:prstGeom prst="rect">
            <a:avLst/>
          </a:prstGeom>
          <a:solidFill>
            <a:schemeClr val="bg1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438912" y="42096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результат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2651760" y="4163912"/>
            <a:ext cx="3017520" cy="301752"/>
          </a:xfrm>
          <a:prstGeom prst="rect">
            <a:avLst/>
          </a:prstGeom>
          <a:solidFill>
            <a:schemeClr val="bg1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0" name="Text 68"/>
          <p:cNvSpPr/>
          <p:nvPr/>
        </p:nvSpPr>
        <p:spPr>
          <a:xfrm>
            <a:off x="2724912" y="420963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wells_schedule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+ NPV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669280" y="4163912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2" name="Text 70"/>
          <p:cNvSpPr/>
          <p:nvPr/>
        </p:nvSpPr>
        <p:spPr>
          <a:xfrm>
            <a:off x="5742432" y="420963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wells_schedule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+ NPV (+ </a:t>
            </a: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суррогатная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365760" y="4479380"/>
            <a:ext cx="228600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4" name="Text 72"/>
          <p:cNvSpPr/>
          <p:nvPr/>
        </p:nvSpPr>
        <p:spPr>
          <a:xfrm>
            <a:off x="438912" y="452510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задачи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651760" y="4479380"/>
            <a:ext cx="3017520" cy="301752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6" name="Text 74"/>
          <p:cNvSpPr/>
          <p:nvPr/>
        </p:nvSpPr>
        <p:spPr>
          <a:xfrm>
            <a:off x="2724912" y="452510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уровень сложности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669280" y="4479380"/>
            <a:ext cx="3154680" cy="301752"/>
          </a:xfrm>
          <a:prstGeom prst="rect">
            <a:avLst/>
          </a:prstGeom>
          <a:solidFill>
            <a:srgbClr val="EEF0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8" name="Text 76"/>
          <p:cNvSpPr/>
          <p:nvPr/>
        </p:nvSpPr>
        <p:spPr>
          <a:xfrm>
            <a:off x="5742432" y="452510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Повышенный уровень сложности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" name="Google Shape;606;p14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607;p14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608;p14"/>
          <p:cNvCxnSpPr/>
          <p:nvPr/>
        </p:nvCxnSpPr>
        <p:spPr>
          <a:xfrm>
            <a:off x="365760" y="598932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609;p14"/>
          <p:cNvSpPr/>
          <p:nvPr/>
        </p:nvSpPr>
        <p:spPr>
          <a:xfrm>
            <a:off x="566928" y="5029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СРАВНЕНИЕ ТРЕКОВ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0239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1" name="Google Shape;691;p15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2" name="Google Shape;692;p15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15"/>
          <p:cNvCxnSpPr/>
          <p:nvPr/>
        </p:nvCxnSpPr>
        <p:spPr>
          <a:xfrm>
            <a:off x="365760" y="598932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4" name="Google Shape;694;p15"/>
          <p:cNvSpPr/>
          <p:nvPr/>
        </p:nvSpPr>
        <p:spPr>
          <a:xfrm>
            <a:off x="566928" y="5029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ТРЕБОВАНИЯ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Calibri"/>
              <a:buNone/>
            </a:pPr>
            <a:r>
              <a:rPr lang="en-US" sz="3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Что</a:t>
            </a:r>
            <a:r>
              <a:rPr lang="en-US" sz="3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понадобится</a:t>
            </a:r>
            <a:r>
              <a:rPr lang="en-US" sz="3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lang="en-US" sz="3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решения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15"/>
          <p:cNvCxnSpPr/>
          <p:nvPr/>
        </p:nvCxnSpPr>
        <p:spPr>
          <a:xfrm>
            <a:off x="365760" y="128016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7" name="Google Shape;697;p15"/>
          <p:cNvSpPr/>
          <p:nvPr/>
        </p:nvSpPr>
        <p:spPr>
          <a:xfrm>
            <a:off x="365750" y="1389901"/>
            <a:ext cx="2788800" cy="1848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698" name="Google Shape;698;p15"/>
          <p:cNvSpPr/>
          <p:nvPr/>
        </p:nvSpPr>
        <p:spPr>
          <a:xfrm>
            <a:off x="512064" y="151790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5"/>
          <p:cNvSpPr/>
          <p:nvPr/>
        </p:nvSpPr>
        <p:spPr>
          <a:xfrm>
            <a:off x="512064" y="171907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Архитектура МАС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5"/>
          <p:cNvSpPr/>
          <p:nvPr/>
        </p:nvSpPr>
        <p:spPr>
          <a:xfrm>
            <a:off x="512064" y="1984261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Многоагентный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подход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с LLM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разнородными 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DL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моделями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512064" y="2295157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Иерархия и протоколы коммуникации агентов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5"/>
          <p:cNvSpPr/>
          <p:nvPr/>
        </p:nvSpPr>
        <p:spPr>
          <a:xfrm>
            <a:off x="512064" y="2606053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Слой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интерпретируемости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объяснение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принятых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решений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5"/>
          <p:cNvSpPr/>
          <p:nvPr/>
        </p:nvSpPr>
        <p:spPr>
          <a:xfrm>
            <a:off x="3291837" y="1389901"/>
            <a:ext cx="2788800" cy="1848300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704" name="Google Shape;704;p15"/>
          <p:cNvSpPr/>
          <p:nvPr/>
        </p:nvSpPr>
        <p:spPr>
          <a:xfrm>
            <a:off x="3438144" y="151790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5"/>
          <p:cNvSpPr/>
          <p:nvPr/>
        </p:nvSpPr>
        <p:spPr>
          <a:xfrm>
            <a:off x="3438144" y="171907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Функциональность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5"/>
          <p:cNvSpPr/>
          <p:nvPr/>
        </p:nvSpPr>
        <p:spPr>
          <a:xfrm>
            <a:off x="3438144" y="2048256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Приём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обработка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входных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данных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месторождения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5"/>
          <p:cNvSpPr/>
          <p:nvPr/>
        </p:nvSpPr>
        <p:spPr>
          <a:xfrm>
            <a:off x="3438144" y="2359152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Формирование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последовательностей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управляющих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воздействий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скважинам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5"/>
          <p:cNvSpPr/>
          <p:nvPr/>
        </p:nvSpPr>
        <p:spPr>
          <a:xfrm>
            <a:off x="3438144" y="2652985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GUI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 объяснимость действий 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расчёт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NPV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5"/>
          <p:cNvSpPr/>
          <p:nvPr/>
        </p:nvSpPr>
        <p:spPr>
          <a:xfrm>
            <a:off x="3438144" y="2954677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Работа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без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ручного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вмешательства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после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запуска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5"/>
          <p:cNvSpPr/>
          <p:nvPr/>
        </p:nvSpPr>
        <p:spPr>
          <a:xfrm>
            <a:off x="6217924" y="1389901"/>
            <a:ext cx="2788800" cy="18483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711" name="Google Shape;711;p15"/>
          <p:cNvSpPr/>
          <p:nvPr/>
        </p:nvSpPr>
        <p:spPr>
          <a:xfrm>
            <a:off x="6364224" y="151790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5"/>
          <p:cNvSpPr/>
          <p:nvPr/>
        </p:nvSpPr>
        <p:spPr>
          <a:xfrm>
            <a:off x="6364224" y="171907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UI / Веб-интерфейс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6364224" y="2048256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Задание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сценариев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параметров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системы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5"/>
          <p:cNvSpPr/>
          <p:nvPr/>
        </p:nvSpPr>
        <p:spPr>
          <a:xfrm>
            <a:off x="6364224" y="2359152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Интерпретация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визуализация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результатов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МАС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5"/>
          <p:cNvSpPr/>
          <p:nvPr/>
        </p:nvSpPr>
        <p:spPr>
          <a:xfrm>
            <a:off x="6364224" y="2670048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Достаточен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взаимодействия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с МАС и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понимания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решений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5"/>
          <p:cNvSpPr/>
          <p:nvPr/>
        </p:nvSpPr>
        <p:spPr>
          <a:xfrm>
            <a:off x="365760" y="3365001"/>
            <a:ext cx="2788800" cy="1719000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717" name="Google Shape;717;p15"/>
          <p:cNvSpPr/>
          <p:nvPr/>
        </p:nvSpPr>
        <p:spPr>
          <a:xfrm>
            <a:off x="512064" y="3493017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04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5"/>
          <p:cNvSpPr/>
          <p:nvPr/>
        </p:nvSpPr>
        <p:spPr>
          <a:xfrm>
            <a:off x="512064" y="3694185"/>
            <a:ext cx="248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Calibri"/>
              <a:buNone/>
            </a:pPr>
            <a:r>
              <a:rPr lang="en-US" sz="1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Программная</a:t>
            </a:r>
            <a:r>
              <a:rPr lang="en-US" sz="1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реализация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5"/>
          <p:cNvSpPr/>
          <p:nvPr/>
        </p:nvSpPr>
        <p:spPr>
          <a:xfrm>
            <a:off x="512064" y="4023369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Любые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языки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программирования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библиотеки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5"/>
          <p:cNvSpPr/>
          <p:nvPr/>
        </p:nvSpPr>
        <p:spPr>
          <a:xfrm>
            <a:off x="512064" y="4334265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Рекомендуются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открытые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задокументированные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инструменты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5"/>
          <p:cNvSpPr/>
          <p:nvPr/>
        </p:nvSpPr>
        <p:spPr>
          <a:xfrm>
            <a:off x="512064" y="4645161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Рекомендуется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Docker-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контейнеризация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среды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5"/>
          <p:cNvSpPr/>
          <p:nvPr/>
        </p:nvSpPr>
        <p:spPr>
          <a:xfrm>
            <a:off x="3291840" y="3365001"/>
            <a:ext cx="2788800" cy="1719000"/>
          </a:xfrm>
          <a:prstGeom prst="rect">
            <a:avLst/>
          </a:prstGeom>
          <a:solidFill>
            <a:srgbClr val="F5F5F7"/>
          </a:solidFill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723" name="Google Shape;723;p15"/>
          <p:cNvSpPr/>
          <p:nvPr/>
        </p:nvSpPr>
        <p:spPr>
          <a:xfrm>
            <a:off x="3438144" y="3493017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05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5"/>
          <p:cNvSpPr/>
          <p:nvPr/>
        </p:nvSpPr>
        <p:spPr>
          <a:xfrm>
            <a:off x="3438144" y="3694185"/>
            <a:ext cx="248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Воспроизводимость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5"/>
          <p:cNvSpPr/>
          <p:nvPr/>
        </p:nvSpPr>
        <p:spPr>
          <a:xfrm>
            <a:off x="3438144" y="4023369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Воспроизводимый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результат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повторном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запуске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3438144" y="4334265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скрытых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привязок к конкретному месторождению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3438144" y="4645161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Возможность валидировать каждый шаг решения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5"/>
          <p:cNvSpPr/>
          <p:nvPr/>
        </p:nvSpPr>
        <p:spPr>
          <a:xfrm>
            <a:off x="6217920" y="3365001"/>
            <a:ext cx="2788800" cy="1719000"/>
          </a:xfrm>
          <a:prstGeom prst="rect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729" name="Google Shape;729;p15"/>
          <p:cNvSpPr/>
          <p:nvPr/>
        </p:nvSpPr>
        <p:spPr>
          <a:xfrm>
            <a:off x="6364224" y="3493017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06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5"/>
          <p:cNvSpPr/>
          <p:nvPr/>
        </p:nvSpPr>
        <p:spPr>
          <a:xfrm>
            <a:off x="6364224" y="3694185"/>
            <a:ext cx="248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Calibri"/>
              <a:buNone/>
            </a:pPr>
            <a:r>
              <a:rPr lang="en-US" sz="1200" b="1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Ограничения и корректность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5"/>
          <p:cNvSpPr/>
          <p:nvPr/>
        </p:nvSpPr>
        <p:spPr>
          <a:xfrm>
            <a:off x="6364224" y="4023369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Соблюдение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технологических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ограничений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6364224" y="4334265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Недопустимо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нарушение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физических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ограничений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модели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6364224" y="4645161"/>
            <a:ext cx="248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Выходные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файлы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полные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без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некорректных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записей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702;p15">
            <a:extLst>
              <a:ext uri="{FF2B5EF4-FFF2-40B4-BE49-F238E27FC236}">
                <a16:creationId xmlns:a16="http://schemas.microsoft.com/office/drawing/2014/main" id="{4E092646-8538-E63A-9594-CF71825848DF}"/>
              </a:ext>
            </a:extLst>
          </p:cNvPr>
          <p:cNvSpPr/>
          <p:nvPr/>
        </p:nvSpPr>
        <p:spPr>
          <a:xfrm>
            <a:off x="512064" y="2916891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6070"/>
              </a:buClr>
              <a:buSzPts val="85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Обоснованное разделение на суррогат/</a:t>
            </a:r>
            <a:r>
              <a:rPr lang="en-US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RL/LLM </a:t>
            </a:r>
            <a:r>
              <a:rPr lang="ru-RU" sz="900" b="0" i="0" u="none" strike="noStrike" cap="none" dirty="0">
                <a:solidFill>
                  <a:srgbClr val="606070"/>
                </a:solidFill>
                <a:latin typeface="Calibri"/>
                <a:ea typeface="Calibri"/>
                <a:cs typeface="Calibri"/>
                <a:sym typeface="Calibri"/>
              </a:rPr>
              <a:t>и иных агентов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47472" y="621791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Процедура оценки и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ЭТАП 1: ПЕРВИЧНЫЙ ОТБОР (Автоматическая валидация)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7472" y="1490472"/>
            <a:ext cx="5029200" cy="9144"/>
          </a:xfrm>
          <a:prstGeom prst="rect">
            <a:avLst/>
          </a:prstGeom>
          <a:solidFill>
            <a:srgbClr val="2D34FF"/>
          </a:solidFill>
          <a:ln w="12700">
            <a:solidFill>
              <a:srgbClr val="2D3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47472" y="1554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предоставляют: исходный код, документацию,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wells_schedule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заявленный NPV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19019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Организаторы запускают решение на тестовом кейсе и проверяют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" y="22494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ранжируются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значению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NPV (чем выше — тем лучше)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" y="2596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В финал проходят 20% команд от числа допущенных к валидации, но не более 10 команд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" y="29443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без полного пакета материалов к валидации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допускаются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NPV, git,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472" y="3337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ЭТАП 2: ФИНАЛЬНАЯ ПРОВЕРКА И ЗАЩИТА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7472" y="3593592"/>
            <a:ext cx="5029200" cy="9144"/>
          </a:xfrm>
          <a:prstGeom prst="rect">
            <a:avLst/>
          </a:prstGeom>
          <a:solidFill>
            <a:srgbClr val="2D34FF"/>
          </a:solidFill>
          <a:ln w="12700">
            <a:solidFill>
              <a:srgbClr val="2D3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47472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Организаторы независимо перезапускают расчёт на предоставленных управляющих последовательностях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" y="3931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Если NPV организаторов ≠ заявленный NPV команды →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дисквалификация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" y="4206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Онлайн-защита: 7 минут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презентацию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по архитектуре МАС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+ 5 минут на вопросы жюри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" y="4480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Демонстрационный запуск решения во время защиты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" y="4754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Жюри оценивает: архитектуру, методы, реализацию, логику принятия решений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77840" y="12344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ФИНАЛЬНОЙ ОЦЕНКИ (ЖЮРИ)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77840" y="1490472"/>
            <a:ext cx="3227832" cy="9144"/>
          </a:xfrm>
          <a:prstGeom prst="rect">
            <a:avLst/>
          </a:prstGeom>
          <a:solidFill>
            <a:srgbClr val="2D34FF"/>
          </a:solidFill>
          <a:ln w="12700">
            <a:solidFill>
              <a:srgbClr val="2D3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577840" y="1554480"/>
            <a:ext cx="3227832" cy="493776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669280" y="16002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и воспроизводимость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0" y="1801368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NPV совпадает с независимой проверкой организаторов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77840" y="2084832"/>
            <a:ext cx="32278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669280" y="213055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ограничений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69280" y="233172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технологические и физические ограничения соблюдены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77840" y="2615184"/>
            <a:ext cx="3227832" cy="493776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669280" y="2660904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качество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0" y="286207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структура кода, документация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577840" y="3145536"/>
            <a:ext cx="32278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669280" y="3191256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подхода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69280" y="3392424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NPV vs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референсный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сценарий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77840" y="3675888"/>
            <a:ext cx="3227832" cy="493776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669280" y="3721608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Обоснованность алгоритмов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69280" y="3922776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БФМ, математика и методы обучения, дообучения, оптимизации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577840" y="4206240"/>
            <a:ext cx="32278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669280" y="425196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презентации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669280" y="4453128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Ясность, структура, демонстрация, ответы на вопросы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1" name="Google Shape;740;p16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741;p16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742;p16"/>
          <p:cNvCxnSpPr/>
          <p:nvPr/>
        </p:nvCxnSpPr>
        <p:spPr>
          <a:xfrm>
            <a:off x="365760" y="598932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743;p16"/>
          <p:cNvSpPr/>
          <p:nvPr/>
        </p:nvSpPr>
        <p:spPr>
          <a:xfrm>
            <a:off x="566928" y="5029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ОЦЕНКА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88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47471" y="502920"/>
            <a:ext cx="85384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п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ередачи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решения и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103327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ПАКЕТ МАТЕРИАЛОВ ДЛЯ ДОПУСКА К ВАЛИДАЦИИ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7472" y="1353312"/>
            <a:ext cx="2651760" cy="1005840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—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исходный код с логичной структурой каталогов и читаемыми именами файлов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82112" y="1353312"/>
            <a:ext cx="2651760" cy="1005840"/>
          </a:xfrm>
          <a:prstGeom prst="rect">
            <a:avLst/>
          </a:prstGeom>
          <a:noFill/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291840" y="144475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Назначение, архитектура, порядок установки и запуска, описание входных/выходных данных, параметры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16752" y="1353312"/>
            <a:ext cx="2651760" cy="1005840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126480" y="144475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по запуску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Пошаговая инструкция. Решение должно запускаться без ручной настройки сложной инфраструктуры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7472" y="2450592"/>
            <a:ext cx="2651760" cy="1005840"/>
          </a:xfrm>
          <a:prstGeom prst="rect">
            <a:avLst/>
          </a:prstGeom>
          <a:noFill/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—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Файл конфигурации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81635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Все параметры для воспроизведения результата при повторном запуске в идентичной среде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82112" y="2450592"/>
            <a:ext cx="2651760" cy="1005840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291840" y="25420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Docker-</a:t>
            </a: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образ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91840" y="281635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или материалы для сборки. Рекомендуется для гарантии воспроизводимости среды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16752" y="2450592"/>
            <a:ext cx="2651760" cy="1005840"/>
          </a:xfrm>
          <a:prstGeom prst="rect">
            <a:avLst/>
          </a:prstGeom>
          <a:noFill/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126480" y="25420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 —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на тестовом кейсе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0" y="281635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Файл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wells_schedule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+ заявленное значение NPV, полученные при запуске на тестовом кейсе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7472" y="3502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ВОСПРОИЗВОДИМОСТИ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7472" y="3803904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—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повторном запуске в идентичной среде с теми же исходными данными — результат должен быть сопоставимым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7472" y="4005072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Нет скрытых зависимостей от внешних ресурсов, не поставляемых с решением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47472" y="4206240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Нет неконтролируемых случайных параметров (или seed зафиксирован в конфигурации)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7472" y="4407408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—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пригодно для автоматической или полуавтоматической проверки организаторами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47472" y="4608576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D3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подменять исходные данные организаторов собственными (если не разрешено регламентом)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7472" y="4828032"/>
            <a:ext cx="8458200" cy="9144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347472" y="4846320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900" i="1" kern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kumimoji="0" lang="en-US" sz="90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сли</a:t>
            </a:r>
            <a:r>
              <a:rPr kumimoji="0" lang="en-US" sz="9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расчётное </a:t>
            </a:r>
            <a:r>
              <a:rPr kumimoji="0" lang="en-US" sz="90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r>
              <a:rPr kumimoji="0" lang="en-US" sz="9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NPV организаторов не совпадает с заявленным командой — ДИСКВАЛИФИКАЦИЯ</a:t>
            </a:r>
            <a:endParaRPr kumimoji="0" lang="en-US" sz="90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Google Shape;786;p17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787;p17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788;p17"/>
          <p:cNvCxnSpPr/>
          <p:nvPr/>
        </p:nvCxnSpPr>
        <p:spPr>
          <a:xfrm>
            <a:off x="365760" y="598932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789;p17"/>
          <p:cNvSpPr/>
          <p:nvPr/>
        </p:nvSpPr>
        <p:spPr>
          <a:xfrm>
            <a:off x="566928" y="5029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ru-RU" sz="9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ПЕРЕДАЧА РЕШЕНИЯ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5450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" name="Google Shape;874;p19"/>
          <p:cNvCxnSpPr/>
          <p:nvPr/>
        </p:nvCxnSpPr>
        <p:spPr>
          <a:xfrm>
            <a:off x="365760" y="384048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5" name="Google Shape;875;p19"/>
          <p:cNvSpPr/>
          <p:nvPr/>
        </p:nvSpPr>
        <p:spPr>
          <a:xfrm>
            <a:off x="365760" y="109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700"/>
              <a:buFont typeface="Calibri"/>
              <a:buNone/>
            </a:pPr>
            <a:r>
              <a:rPr lang="en-US" sz="8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BLUE SKY RESEARCH · AIOS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19"/>
          <p:cNvCxnSpPr/>
          <p:nvPr/>
        </p:nvCxnSpPr>
        <p:spPr>
          <a:xfrm>
            <a:off x="365760" y="598932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7" name="Google Shape;877;p19"/>
          <p:cNvSpPr/>
          <p:nvPr/>
        </p:nvSpPr>
        <p:spPr>
          <a:xfrm>
            <a:off x="566928" y="5029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800"/>
              <a:buFont typeface="Calibri"/>
              <a:buNone/>
            </a:pPr>
            <a:r>
              <a:rPr lang="en-US" sz="9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УЧАСТНИКИ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9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Calibri"/>
              <a:buNone/>
            </a:pPr>
            <a:r>
              <a:rPr lang="en-US" sz="3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Чеклист</a:t>
            </a:r>
            <a:r>
              <a:rPr lang="en-US" sz="3200" b="1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участника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9" name="Google Shape;879;p19"/>
          <p:cNvCxnSpPr/>
          <p:nvPr/>
        </p:nvCxnSpPr>
        <p:spPr>
          <a:xfrm>
            <a:off x="365760" y="128016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0" name="Google Shape;880;p19"/>
          <p:cNvSpPr/>
          <p:nvPr/>
        </p:nvSpPr>
        <p:spPr>
          <a:xfrm>
            <a:off x="365760" y="13898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ОБА ТРЕКА — ОБЯЗАТЕЛЬНО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9"/>
          <p:cNvSpPr/>
          <p:nvPr/>
        </p:nvSpPr>
        <p:spPr>
          <a:xfrm>
            <a:off x="365760" y="170078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82" name="Google Shape;882;p19"/>
          <p:cNvSpPr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Мультиагентная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система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управления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(МАС)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3" name="Google Shape;883;p19"/>
          <p:cNvCxnSpPr/>
          <p:nvPr/>
        </p:nvCxnSpPr>
        <p:spPr>
          <a:xfrm>
            <a:off x="365760" y="193852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4" name="Google Shape;884;p19"/>
          <p:cNvSpPr/>
          <p:nvPr/>
        </p:nvSpPr>
        <p:spPr>
          <a:xfrm>
            <a:off x="365760" y="202082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85" name="Google Shape;885;p19"/>
          <p:cNvSpPr/>
          <p:nvPr/>
        </p:nvSpPr>
        <p:spPr>
          <a:xfrm>
            <a:off x="640080" y="19842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Файл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wells_schedule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6" name="Google Shape;886;p19"/>
          <p:cNvCxnSpPr/>
          <p:nvPr/>
        </p:nvCxnSpPr>
        <p:spPr>
          <a:xfrm>
            <a:off x="365760" y="225856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7" name="Google Shape;887;p19"/>
          <p:cNvSpPr/>
          <p:nvPr/>
        </p:nvSpPr>
        <p:spPr>
          <a:xfrm>
            <a:off x="365760" y="234086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88" name="Google Shape;888;p19"/>
          <p:cNvSpPr/>
          <p:nvPr/>
        </p:nvSpPr>
        <p:spPr>
          <a:xfrm>
            <a:off x="640080" y="23042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Расчётное значение NPV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9" name="Google Shape;889;p19"/>
          <p:cNvCxnSpPr/>
          <p:nvPr/>
        </p:nvCxnSpPr>
        <p:spPr>
          <a:xfrm>
            <a:off x="365760" y="257860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0" name="Google Shape;890;p19"/>
          <p:cNvSpPr/>
          <p:nvPr/>
        </p:nvSpPr>
        <p:spPr>
          <a:xfrm>
            <a:off x="365760" y="266090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91" name="Google Shape;891;p19"/>
          <p:cNvSpPr/>
          <p:nvPr/>
        </p:nvSpPr>
        <p:spPr>
          <a:xfrm>
            <a:off x="640080" y="26243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Веб-платформа / UI с LLM-агентами в ядре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2" name="Google Shape;892;p19"/>
          <p:cNvCxnSpPr/>
          <p:nvPr/>
        </p:nvCxnSpPr>
        <p:spPr>
          <a:xfrm>
            <a:off x="365760" y="289864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3" name="Google Shape;893;p19"/>
          <p:cNvSpPr/>
          <p:nvPr/>
        </p:nvSpPr>
        <p:spPr>
          <a:xfrm>
            <a:off x="365760" y="298094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94" name="Google Shape;894;p19"/>
          <p:cNvSpPr/>
          <p:nvPr/>
        </p:nvSpPr>
        <p:spPr>
          <a:xfrm>
            <a:off x="640080" y="29443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Исходный код (структурированный)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p19"/>
          <p:cNvCxnSpPr/>
          <p:nvPr/>
        </p:nvCxnSpPr>
        <p:spPr>
          <a:xfrm>
            <a:off x="365760" y="321868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6" name="Google Shape;896;p19"/>
          <p:cNvSpPr/>
          <p:nvPr/>
        </p:nvSpPr>
        <p:spPr>
          <a:xfrm>
            <a:off x="365760" y="330098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97" name="Google Shape;897;p19"/>
          <p:cNvSpPr/>
          <p:nvPr/>
        </p:nvSpPr>
        <p:spPr>
          <a:xfrm>
            <a:off x="640080" y="32644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Документация (архитектура, запуск, данные)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8" name="Google Shape;898;p19"/>
          <p:cNvCxnSpPr/>
          <p:nvPr/>
        </p:nvCxnSpPr>
        <p:spPr>
          <a:xfrm>
            <a:off x="365760" y="353872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9" name="Google Shape;899;p19"/>
          <p:cNvSpPr/>
          <p:nvPr/>
        </p:nvSpPr>
        <p:spPr>
          <a:xfrm>
            <a:off x="365760" y="362102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00" name="Google Shape;900;p19"/>
          <p:cNvSpPr/>
          <p:nvPr/>
        </p:nvSpPr>
        <p:spPr>
          <a:xfrm>
            <a:off x="640080" y="35844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Инструкция по развертыванию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1" name="Google Shape;901;p19"/>
          <p:cNvCxnSpPr/>
          <p:nvPr/>
        </p:nvCxnSpPr>
        <p:spPr>
          <a:xfrm>
            <a:off x="365760" y="385876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2" name="Google Shape;902;p19"/>
          <p:cNvSpPr/>
          <p:nvPr/>
        </p:nvSpPr>
        <p:spPr>
          <a:xfrm>
            <a:off x="365760" y="394106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03" name="Google Shape;903;p19"/>
          <p:cNvSpPr/>
          <p:nvPr/>
        </p:nvSpPr>
        <p:spPr>
          <a:xfrm>
            <a:off x="640080" y="39044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Файл конфигурации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4" name="Google Shape;904;p19"/>
          <p:cNvCxnSpPr/>
          <p:nvPr/>
        </p:nvCxnSpPr>
        <p:spPr>
          <a:xfrm>
            <a:off x="365760" y="417880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5" name="Google Shape;905;p19"/>
          <p:cNvSpPr/>
          <p:nvPr/>
        </p:nvSpPr>
        <p:spPr>
          <a:xfrm>
            <a:off x="365760" y="426110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06" name="Google Shape;906;p19"/>
          <p:cNvSpPr/>
          <p:nvPr/>
        </p:nvSpPr>
        <p:spPr>
          <a:xfrm>
            <a:off x="640080" y="4224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Демонстрация работы системы на защите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7" name="Google Shape;907;p19"/>
          <p:cNvCxnSpPr/>
          <p:nvPr/>
        </p:nvCxnSpPr>
        <p:spPr>
          <a:xfrm>
            <a:off x="365760" y="4498848"/>
            <a:ext cx="393192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8" name="Google Shape;908;p19"/>
          <p:cNvSpPr/>
          <p:nvPr/>
        </p:nvSpPr>
        <p:spPr>
          <a:xfrm>
            <a:off x="365760" y="458114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09" name="Google Shape;909;p19"/>
          <p:cNvSpPr/>
          <p:nvPr/>
        </p:nvSpPr>
        <p:spPr>
          <a:xfrm>
            <a:off x="640080" y="45445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Описание логики принятия решений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0" name="Google Shape;910;p19"/>
          <p:cNvCxnSpPr/>
          <p:nvPr/>
        </p:nvCxnSpPr>
        <p:spPr>
          <a:xfrm>
            <a:off x="4526280" y="1280160"/>
            <a:ext cx="0" cy="374904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1" name="Google Shape;911;p19"/>
          <p:cNvSpPr/>
          <p:nvPr/>
        </p:nvSpPr>
        <p:spPr>
          <a:xfrm>
            <a:off x="4709160" y="13898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ДОПОЛНИТЕЛЬНО ДЛЯ ТРЕКА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9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E8E9FF"/>
          </a:solidFill>
          <a:ln w="12700" cap="flat" cmpd="sng">
            <a:solidFill>
              <a:srgbClr val="E8E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13" name="Google Shape;913;p19"/>
          <p:cNvSpPr/>
          <p:nvPr/>
        </p:nvSpPr>
        <p:spPr>
          <a:xfrm>
            <a:off x="4773168" y="1700784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14" name="Google Shape;914;p19"/>
          <p:cNvSpPr/>
          <p:nvPr/>
        </p:nvSpPr>
        <p:spPr>
          <a:xfrm>
            <a:off x="5047488" y="1664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900"/>
              <a:buFont typeface="Calibri"/>
              <a:buNone/>
            </a:pPr>
            <a:r>
              <a:rPr lang="en-US" sz="1000" b="1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Суррогатная</a:t>
            </a:r>
            <a:r>
              <a:rPr lang="en-US" sz="10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i="0" u="none" strike="noStrike" cap="none" dirty="0" err="1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модель</a:t>
            </a:r>
            <a:r>
              <a:rPr lang="en-US" sz="10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000" b="1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CNN/PINN/FNO …</a:t>
            </a:r>
            <a:r>
              <a:rPr lang="en-US" sz="1000" b="1" i="0" u="none" strike="noStrike" cap="none" dirty="0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9"/>
          <p:cNvSpPr/>
          <p:nvPr/>
        </p:nvSpPr>
        <p:spPr>
          <a:xfrm>
            <a:off x="4709160" y="2011680"/>
            <a:ext cx="4069080" cy="329184"/>
          </a:xfrm>
          <a:prstGeom prst="rect">
            <a:avLst/>
          </a:prstGeom>
          <a:solidFill>
            <a:srgbClr val="E8E9FF"/>
          </a:solidFill>
          <a:ln w="12700" cap="flat" cmpd="sng">
            <a:solidFill>
              <a:srgbClr val="E8E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16" name="Google Shape;916;p19"/>
          <p:cNvSpPr/>
          <p:nvPr/>
        </p:nvSpPr>
        <p:spPr>
          <a:xfrm>
            <a:off x="4773168" y="2084832"/>
            <a:ext cx="182880" cy="182880"/>
          </a:xfrm>
          <a:prstGeom prst="ellipse">
            <a:avLst/>
          </a:prstGeom>
          <a:solidFill>
            <a:srgbClr val="2D34FF"/>
          </a:solidFill>
          <a:ln w="12700" cap="flat" cmpd="sng">
            <a:solidFill>
              <a:srgbClr val="2D3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17" name="Google Shape;917;p19"/>
          <p:cNvSpPr/>
          <p:nvPr/>
        </p:nvSpPr>
        <p:spPr>
          <a:xfrm>
            <a:off x="5047488" y="20482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4FF"/>
              </a:buClr>
              <a:buSzPts val="900"/>
              <a:buFont typeface="Calibri"/>
              <a:buNone/>
            </a:pPr>
            <a:r>
              <a:rPr lang="en-US" sz="1000" b="1" i="0" u="none" strike="noStrike" cap="none">
                <a:solidFill>
                  <a:srgbClr val="2D34FF"/>
                </a:solidFill>
                <a:latin typeface="Calibri"/>
                <a:ea typeface="Calibri"/>
                <a:cs typeface="Calibri"/>
                <a:sym typeface="Calibri"/>
              </a:rPr>
              <a:t>Описание суррогата (архитектура, обучение, метрики)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8" name="Google Shape;918;p19"/>
          <p:cNvCxnSpPr/>
          <p:nvPr/>
        </p:nvCxnSpPr>
        <p:spPr>
          <a:xfrm>
            <a:off x="4709160" y="2578608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9" name="Google Shape;919;p19"/>
          <p:cNvSpPr/>
          <p:nvPr/>
        </p:nvSpPr>
        <p:spPr>
          <a:xfrm>
            <a:off x="4709160" y="265176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750"/>
              <a:buFont typeface="Calibri"/>
              <a:buNone/>
            </a:pPr>
            <a:r>
              <a:rPr lang="en-US" sz="8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ПОМНИТЕ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9"/>
          <p:cNvSpPr/>
          <p:nvPr/>
        </p:nvSpPr>
        <p:spPr>
          <a:xfrm>
            <a:off x="4709160" y="29077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01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9"/>
          <p:cNvSpPr/>
          <p:nvPr/>
        </p:nvSpPr>
        <p:spPr>
          <a:xfrm>
            <a:off x="5202936" y="2907792"/>
            <a:ext cx="357530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Суррогатная модель в Треке 2 — рекомендация, но влияет на оценку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2" name="Google Shape;922;p19"/>
          <p:cNvCxnSpPr/>
          <p:nvPr/>
        </p:nvCxnSpPr>
        <p:spPr>
          <a:xfrm>
            <a:off x="4709160" y="3236976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3" name="Google Shape;923;p19"/>
          <p:cNvSpPr/>
          <p:nvPr/>
        </p:nvSpPr>
        <p:spPr>
          <a:xfrm>
            <a:off x="4709160" y="329184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02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9"/>
          <p:cNvSpPr/>
          <p:nvPr/>
        </p:nvSpPr>
        <p:spPr>
          <a:xfrm>
            <a:off x="5202936" y="3291840"/>
            <a:ext cx="357530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Все финальные решения независимо перепроверяются организаторами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5" name="Google Shape;925;p19"/>
          <p:cNvCxnSpPr/>
          <p:nvPr/>
        </p:nvCxnSpPr>
        <p:spPr>
          <a:xfrm>
            <a:off x="4709160" y="3621024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6" name="Google Shape;926;p19"/>
          <p:cNvSpPr/>
          <p:nvPr/>
        </p:nvSpPr>
        <p:spPr>
          <a:xfrm>
            <a:off x="4709160" y="36758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03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9"/>
          <p:cNvSpPr/>
          <p:nvPr/>
        </p:nvSpPr>
        <p:spPr>
          <a:xfrm>
            <a:off x="5202936" y="3675888"/>
            <a:ext cx="357530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NPV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должен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совпасть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независимой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проверке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иначе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дисквалификация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19"/>
          <p:cNvCxnSpPr/>
          <p:nvPr/>
        </p:nvCxnSpPr>
        <p:spPr>
          <a:xfrm>
            <a:off x="4709160" y="4005072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9" name="Google Shape;929;p19"/>
          <p:cNvSpPr/>
          <p:nvPr/>
        </p:nvSpPr>
        <p:spPr>
          <a:xfrm>
            <a:off x="4709160" y="405993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04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9"/>
          <p:cNvSpPr/>
          <p:nvPr/>
        </p:nvSpPr>
        <p:spPr>
          <a:xfrm>
            <a:off x="5202936" y="4059936"/>
            <a:ext cx="357530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Оценивается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только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NPV,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но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архитектура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логика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решений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19"/>
          <p:cNvCxnSpPr/>
          <p:nvPr/>
        </p:nvCxnSpPr>
        <p:spPr>
          <a:xfrm>
            <a:off x="4709160" y="4389120"/>
            <a:ext cx="4069080" cy="0"/>
          </a:xfrm>
          <a:prstGeom prst="straightConnector1">
            <a:avLst/>
          </a:prstGeom>
          <a:noFill/>
          <a:ln w="9525" cap="flat" cmpd="sng">
            <a:solidFill>
              <a:srgbClr val="E8E8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2" name="Google Shape;932;p19"/>
          <p:cNvSpPr/>
          <p:nvPr/>
        </p:nvSpPr>
        <p:spPr>
          <a:xfrm>
            <a:off x="4709160" y="444398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A0"/>
              </a:buClr>
              <a:buSzPts val="850"/>
              <a:buFont typeface="Calibri"/>
              <a:buNone/>
            </a:pPr>
            <a:r>
              <a:rPr lang="en-US" sz="900" b="1" i="0" u="none" strike="noStrike" cap="none">
                <a:solidFill>
                  <a:srgbClr val="8888A0"/>
                </a:solidFill>
                <a:latin typeface="Calibri"/>
                <a:ea typeface="Calibri"/>
                <a:cs typeface="Calibri"/>
                <a:sym typeface="Calibri"/>
              </a:rPr>
              <a:t>05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9"/>
          <p:cNvSpPr/>
          <p:nvPr/>
        </p:nvSpPr>
        <p:spPr>
          <a:xfrm>
            <a:off x="5202936" y="4443984"/>
            <a:ext cx="357530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Без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полного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пакета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материалов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— к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валидации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не</a:t>
            </a:r>
            <a:r>
              <a:rPr lang="en-US" sz="1000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допускается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79DD08E-75A9-0BA7-F985-B28D677A6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403"/>
          <a:stretch>
            <a:fillRect/>
          </a:stretch>
        </p:blipFill>
        <p:spPr>
          <a:xfrm rot="10800000">
            <a:off x="0" y="13593"/>
            <a:ext cx="9144000" cy="2125857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479E42C-7A74-D50B-08D9-1A9D0466EC9C}"/>
              </a:ext>
            </a:extLst>
          </p:cNvPr>
          <p:cNvSpPr/>
          <p:nvPr/>
        </p:nvSpPr>
        <p:spPr>
          <a:xfrm>
            <a:off x="0" y="0"/>
            <a:ext cx="9144000" cy="2139451"/>
          </a:xfrm>
          <a:prstGeom prst="rect">
            <a:avLst/>
          </a:prstGeom>
          <a:gradFill>
            <a:gsLst>
              <a:gs pos="0">
                <a:srgbClr val="2D34FF">
                  <a:alpha val="10000"/>
                </a:srgbClr>
              </a:gs>
              <a:gs pos="100000">
                <a:srgbClr val="2D34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31520" y="1908687"/>
            <a:ext cx="612648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Удачи всем командам!</a:t>
            </a:r>
            <a:endParaRPr kumimoji="0" lang="en-US" sz="4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FF2D2E8-4B61-4314-B181-E85276FEAD95}"/>
              </a:ext>
            </a:extLst>
          </p:cNvPr>
          <p:cNvGrpSpPr/>
          <p:nvPr/>
        </p:nvGrpSpPr>
        <p:grpSpPr>
          <a:xfrm>
            <a:off x="731520" y="2983107"/>
            <a:ext cx="3400781" cy="1316736"/>
            <a:chOff x="731520" y="3364992"/>
            <a:chExt cx="7857706" cy="1316736"/>
          </a:xfrm>
        </p:grpSpPr>
        <p:sp>
          <p:nvSpPr>
            <p:cNvPr id="12" name="Google Shape;945;p20">
              <a:extLst>
                <a:ext uri="{FF2B5EF4-FFF2-40B4-BE49-F238E27FC236}">
                  <a16:creationId xmlns:a16="http://schemas.microsoft.com/office/drawing/2014/main" id="{84E026CE-7FAB-05A6-877D-2C35B3ACB70A}"/>
                </a:ext>
              </a:extLst>
            </p:cNvPr>
            <p:cNvSpPr/>
            <p:nvPr/>
          </p:nvSpPr>
          <p:spPr>
            <a:xfrm>
              <a:off x="731520" y="3364992"/>
              <a:ext cx="77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AAAAFF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rgbClr val="AAAAFF"/>
                  </a:solidFill>
                  <a:latin typeface="Calibri"/>
                  <a:ea typeface="Calibri"/>
                  <a:cs typeface="Calibri"/>
                  <a:sym typeface="Calibri"/>
                </a:rPr>
                <a:t>Трек 1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947;p20">
              <a:extLst>
                <a:ext uri="{FF2B5EF4-FFF2-40B4-BE49-F238E27FC236}">
                  <a16:creationId xmlns:a16="http://schemas.microsoft.com/office/drawing/2014/main" id="{6F1ACBA3-30C7-9586-9E59-600442313919}"/>
                </a:ext>
              </a:extLst>
            </p:cNvPr>
            <p:cNvSpPr/>
            <p:nvPr/>
          </p:nvSpPr>
          <p:spPr>
            <a:xfrm>
              <a:off x="1822665" y="3364992"/>
              <a:ext cx="67665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МАС + ГГДМ · ~46 </a:t>
              </a:r>
              <a:r>
                <a:rPr lang="en-US" sz="900" b="0" i="0" u="none" strike="noStrike" cap="none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скважин</a:t>
              </a: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lang="en-US" sz="900" b="0" i="0" u="none" strike="noStrike" cap="none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фокус</a:t>
              </a: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900" b="0" i="0" u="none" strike="noStrike" cap="none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на</a:t>
              </a: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900" b="0" i="0" u="none" strike="noStrike" cap="none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корректность</a:t>
              </a: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" name="Google Shape;948;p20">
              <a:extLst>
                <a:ext uri="{FF2B5EF4-FFF2-40B4-BE49-F238E27FC236}">
                  <a16:creationId xmlns:a16="http://schemas.microsoft.com/office/drawing/2014/main" id="{DBD95727-4B38-2A5C-922D-55F454F77A60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" y="3657600"/>
              <a:ext cx="7680960" cy="0"/>
            </a:xfrm>
            <a:prstGeom prst="straightConnector1">
              <a:avLst/>
            </a:prstGeom>
            <a:noFill/>
            <a:ln w="9525" cap="flat" cmpd="sng">
              <a:solidFill>
                <a:srgbClr val="4444C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" name="Google Shape;949;p20">
              <a:extLst>
                <a:ext uri="{FF2B5EF4-FFF2-40B4-BE49-F238E27FC236}">
                  <a16:creationId xmlns:a16="http://schemas.microsoft.com/office/drawing/2014/main" id="{5528746D-6ADD-44C5-D203-34A163D7BE6C}"/>
                </a:ext>
              </a:extLst>
            </p:cNvPr>
            <p:cNvSpPr/>
            <p:nvPr/>
          </p:nvSpPr>
          <p:spPr>
            <a:xfrm>
              <a:off x="731520" y="3712464"/>
              <a:ext cx="77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AAAAFF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rgbClr val="AAAAFF"/>
                  </a:solidFill>
                  <a:latin typeface="Calibri"/>
                  <a:ea typeface="Calibri"/>
                  <a:cs typeface="Calibri"/>
                  <a:sym typeface="Calibri"/>
                </a:rPr>
                <a:t>Трек 2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51;p20">
              <a:extLst>
                <a:ext uri="{FF2B5EF4-FFF2-40B4-BE49-F238E27FC236}">
                  <a16:creationId xmlns:a16="http://schemas.microsoft.com/office/drawing/2014/main" id="{DB75C03E-1761-3F7F-A9F3-45763C36A7A5}"/>
                </a:ext>
              </a:extLst>
            </p:cNvPr>
            <p:cNvSpPr/>
            <p:nvPr/>
          </p:nvSpPr>
          <p:spPr>
            <a:xfrm>
              <a:off x="1822665" y="3712464"/>
              <a:ext cx="67665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lang="en-US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МАС + Surrogate NN · ~100 скважин · масштаб и скорость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" name="Google Shape;952;p20">
              <a:extLst>
                <a:ext uri="{FF2B5EF4-FFF2-40B4-BE49-F238E27FC236}">
                  <a16:creationId xmlns:a16="http://schemas.microsoft.com/office/drawing/2014/main" id="{1131FC12-98AB-75A1-5A04-D996F3D7DA4A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" y="4005072"/>
              <a:ext cx="7680960" cy="0"/>
            </a:xfrm>
            <a:prstGeom prst="straightConnector1">
              <a:avLst/>
            </a:prstGeom>
            <a:noFill/>
            <a:ln w="9525" cap="flat" cmpd="sng">
              <a:solidFill>
                <a:srgbClr val="4444C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" name="Google Shape;953;p20">
              <a:extLst>
                <a:ext uri="{FF2B5EF4-FFF2-40B4-BE49-F238E27FC236}">
                  <a16:creationId xmlns:a16="http://schemas.microsoft.com/office/drawing/2014/main" id="{F86E9302-2609-F0AB-534E-6163A2BE8D66}"/>
                </a:ext>
              </a:extLst>
            </p:cNvPr>
            <p:cNvSpPr/>
            <p:nvPr/>
          </p:nvSpPr>
          <p:spPr>
            <a:xfrm>
              <a:off x="731520" y="4059936"/>
              <a:ext cx="77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AAAAFF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rgbClr val="AAAAFF"/>
                  </a:solidFill>
                  <a:latin typeface="Calibri"/>
                  <a:ea typeface="Calibri"/>
                  <a:cs typeface="Calibri"/>
                  <a:sym typeface="Calibri"/>
                </a:rPr>
                <a:t>Цель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955;p20">
              <a:extLst>
                <a:ext uri="{FF2B5EF4-FFF2-40B4-BE49-F238E27FC236}">
                  <a16:creationId xmlns:a16="http://schemas.microsoft.com/office/drawing/2014/main" id="{20F10C1E-46E7-CFF4-45E4-85FAB7689EF1}"/>
                </a:ext>
              </a:extLst>
            </p:cNvPr>
            <p:cNvSpPr/>
            <p:nvPr/>
          </p:nvSpPr>
          <p:spPr>
            <a:xfrm>
              <a:off x="1822665" y="4059936"/>
              <a:ext cx="67665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lang="en-US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Максимизация NPV при соблюдении всех ограничений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" name="Google Shape;956;p20">
              <a:extLst>
                <a:ext uri="{FF2B5EF4-FFF2-40B4-BE49-F238E27FC236}">
                  <a16:creationId xmlns:a16="http://schemas.microsoft.com/office/drawing/2014/main" id="{FC3FABDD-3A9B-5F14-A3F1-5AEF0CFB2C95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" y="4352544"/>
              <a:ext cx="7680960" cy="0"/>
            </a:xfrm>
            <a:prstGeom prst="straightConnector1">
              <a:avLst/>
            </a:prstGeom>
            <a:noFill/>
            <a:ln w="9525" cap="flat" cmpd="sng">
              <a:solidFill>
                <a:srgbClr val="4444C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" name="Google Shape;957;p20">
              <a:extLst>
                <a:ext uri="{FF2B5EF4-FFF2-40B4-BE49-F238E27FC236}">
                  <a16:creationId xmlns:a16="http://schemas.microsoft.com/office/drawing/2014/main" id="{EC7B53DA-F6F3-D169-781C-4B5A6B34CB72}"/>
                </a:ext>
              </a:extLst>
            </p:cNvPr>
            <p:cNvSpPr/>
            <p:nvPr/>
          </p:nvSpPr>
          <p:spPr>
            <a:xfrm>
              <a:off x="731520" y="4407408"/>
              <a:ext cx="77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AAAAFF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rgbClr val="AAAAFF"/>
                  </a:solidFill>
                  <a:latin typeface="Calibri"/>
                  <a:ea typeface="Calibri"/>
                  <a:cs typeface="Calibri"/>
                  <a:sym typeface="Calibri"/>
                </a:rPr>
                <a:t>Сдать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959;p20">
              <a:extLst>
                <a:ext uri="{FF2B5EF4-FFF2-40B4-BE49-F238E27FC236}">
                  <a16:creationId xmlns:a16="http://schemas.microsoft.com/office/drawing/2014/main" id="{32B3B324-BF24-C6CE-9D50-8A458BE19424}"/>
                </a:ext>
              </a:extLst>
            </p:cNvPr>
            <p:cNvSpPr/>
            <p:nvPr/>
          </p:nvSpPr>
          <p:spPr>
            <a:xfrm>
              <a:off x="1822665" y="4407408"/>
              <a:ext cx="67665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lang="en-US" sz="900" b="0" i="0" u="none" strike="noStrike" cap="none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Код</a:t>
              </a: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+ </a:t>
              </a:r>
              <a:r>
                <a:rPr lang="en-US" sz="900" b="0" i="0" u="none" strike="noStrike" cap="none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документация</a:t>
              </a: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ru-RU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 архитектура </a:t>
              </a: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 </a:t>
              </a:r>
              <a:r>
                <a:rPr lang="en-US" sz="900" b="0" i="0" u="none" strike="noStrike" cap="none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wells_schedule</a:t>
              </a:r>
              <a:r>
                <a:rPr lang="en-US" sz="9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+ NPV + UI</a:t>
              </a: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5198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42E96C-8C00-4A09-BCC3-F38640DEB32D}">
  <we:reference id="wa200010173" version="1.1.0.0" store="ru-RU" storeType="OMEX"/>
  <we:alternateReferences>
    <we:reference id="WA200010173" version="1.1.0.0" store="WA20001017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2300</Words>
  <Application>Microsoft Office PowerPoint</Application>
  <PresentationFormat>Экран (16:9)</PresentationFormat>
  <Paragraphs>478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Dasha</dc:creator>
  <cp:lastModifiedBy>Вячеслав Чуканов</cp:lastModifiedBy>
  <cp:revision>21</cp:revision>
  <dcterms:modified xsi:type="dcterms:W3CDTF">2026-08-09T19:49:22Z</dcterms:modified>
</cp:coreProperties>
</file>